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09F9AC-1F3E-5C02-C4DA-0C8EF2008217}" v="31" dt="2026-09-02T17:33:32.173"/>
    <p1510:client id="{EDDBE0CA-9ED7-D01E-7C22-6A4ED5BC152E}" v="3" dt="2026-09-02T14:02:20.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9E9BA6A0-6C61-4C33-96A7-B8C6304369B2}" type="datetimeFigureOut">
              <a:t>9/2/2026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A7B19F9-13FA-471A-8D77-3935DEB66AB7}" type="slidenum">
              <a:t>‹#›</a:t>
            </a:fld>
            <a:endParaRPr lang="en-US"/>
          </a:p>
        </p:txBody>
      </p:sp>
    </p:spTree>
    <p:extLst>
      <p:ext uri="{BB962C8B-B14F-4D97-AF65-F5344CB8AC3E}">
        <p14:creationId xmlns:p14="http://schemas.microsoft.com/office/powerpoint/2010/main" val="2652354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name and, in one sentence, what it does: users upload documents and ask natural-language questions that get grounded, source-cited answers. Two-person, time-boxed build. Speaking time: ~30s.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ideas in one slide: the problem (documents pile up, keyword search falls short, manual lookup is slow), and the fix (a retrieval-augmented pipeline: documents get chunked, embedded, retrieved by similarity, and answered by Gemini using only retrieved evidence with sources attached). Land on the goal statement. Speaking time: ~55s.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orientation: three lanes of capability (user, admin, technical) on the left, and the confirmed technology stack on the right — .NET 8 / ASP.NET Core / EF Core / SQL Server on the backend, React + TypeScript on the frontend, Gemini and PdfPig for AI and document processing. Speaking time: ~40s.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30,000-foot view: React talks only to the ASP.NET Core API over REST, never directly to the database, file system, or Gemini. The API delegates into an Application layer, implemented by an Infrastructure layer that talks to SQL Server, local file storage, and Gemini. Speaking time: ~35s.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layers, one direction of dependency. Interfaces live in Application as pure contracts; Infrastructure supplies the concrete implementations wired up through dependency injection. Practically: we can unit test a controller against a mocked IDocumentService without spinning up SQL Server, and swap an implementation without touching the API. Speaking time: ~50s.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React and TypeScript, routed with React Router, organized into pages that call dedicated API modules through one shared HTTP client. AuthContext holds auth state; ProtectedRoute and AdminRoute guard routes — AdminRoute specifically checks both login and Admin role. Make the security point explicitly: hiding a button is UX, not security — the backend's [Authorize] attributes are the actual boundary. Speaking time: ~45s.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Login validates credentials, the server issues a JWT, the frontend attaches it as a bearer token on every request, ASP.NET Core reads it into claims, and role authorization checks those claims. Two roles: Admin and DocumentUser. Admin-only controllers carry [Authorize(Roles = "Admin")] server-side — that's the real gate, not the frontend's AdminRoute. Speaking time: ~45s.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rows: upload gets validated, stored, a DB record is created, and a background task is queued — that's the synchronous half, returning immediately. The processor then extracts, chunks, embeds, and flips status to Ready (or Failed). Async because extraction and embedding take real time for large files. Speaking time: ~50s.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PdfPig extracts text from the PDF, which is split into chunks that keep page number, index, and token count. Each chunk is embedded and stored; a question is embedded the same way and compared against every stored vector using cosine similarity, keeping the Top-K most relevant chunks. Be upfront: JSON-in-SQL-Server, not a dedicated vector database. Speaking time: ~55s.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full chain once: a question is embedded and retrieval runs cosine similarity to find Top-K chunks, which assemble into a grounded prompt sent to Gemini via the Google.GenAI package. The answer comes back with sources, logged to query history. Land on: retrieval supplies the knowledge, Gemini supplies the language. Speaking time: ~65s.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question asked gets logged with question, answer, grounded status, timing, and sources with relevance scores — that's what makes the system auditable. On the admin side, users and documents can be viewed, filtered, uploaded, and deleted directly from the dashboard; admin queries support configurable Top-K with full source visibility; and query history can be searched and drilled into. Speaking time: ~50s.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full admin API sits behind the Admin role, grouped by resource, and every one of these endpoints is wired into the demonstrated frontend — including delete. Two data chains hang off User: documents into chunks and embeddings, and query history into sources pointing back at chunks — chunk-level embeddings pinpoint passages, and stored sources keep every answer traceable. Testing: 187/187 passing as of the latest confirmed run, covering the major subsystems. Speaking time: ~50s.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timeline — under a minute. Then preview the live demo sequence: login and dashboard, upload and watch processing complete, ask a question and see the sourced answer, check query history, then switch into admin for users, documents, admin query, and history. Speaking time: ~35s.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clear directions for where this goes next: moving off JSON-in-SQL toward a dedicated vector database as data grows, adding a reranking pass to sharpen retrieval quality, investing in observability and error reporting for production use, supporting more document formats beyond PDF, building out richer admin analytics, and continuing to expand automated test coverage as new features land. Speaking time: ~40s.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loop: login, upload, process, query, answer, sources, history, admin — the whole system in eight words, in the exact order of the live demo. Land the closing line, then open the floor for questions before moving into the demo. Speaking time: ~20-30s.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8321040" y="1188720"/>
            <a:ext cx="2834640" cy="4480560"/>
          </a:xfrm>
          <a:prstGeom prst="roundRect">
            <a:avLst>
              <a:gd name="adj" fmla="val 3871"/>
            </a:avLst>
          </a:prstGeom>
          <a:solidFill>
            <a:srgbClr val="1B2352"/>
          </a:solidFill>
          <a:ln w="12700">
            <a:solidFill>
              <a:srgbClr val="2A356E"/>
            </a:solidFill>
            <a:prstDash val="solid"/>
          </a:ln>
        </p:spPr>
      </p:sp>
      <p:sp>
        <p:nvSpPr>
          <p:cNvPr id="3" name="Shape 1"/>
          <p:cNvSpPr/>
          <p:nvPr/>
        </p:nvSpPr>
        <p:spPr>
          <a:xfrm>
            <a:off x="8686800" y="1554480"/>
            <a:ext cx="2468880" cy="3931920"/>
          </a:xfrm>
          <a:prstGeom prst="roundRect">
            <a:avLst>
              <a:gd name="adj" fmla="val 3704"/>
            </a:avLst>
          </a:prstGeom>
          <a:solidFill>
            <a:srgbClr val="00C2A8">
              <a:alpha val="12000"/>
            </a:srgbClr>
          </a:solidFill>
          <a:ln w="12700">
            <a:solidFill>
              <a:srgbClr val="00C2A8"/>
            </a:solidFill>
            <a:prstDash val="solid"/>
          </a:ln>
        </p:spPr>
      </p:sp>
      <p:sp>
        <p:nvSpPr>
          <p:cNvPr id="4" name="Shape 2"/>
          <p:cNvSpPr/>
          <p:nvPr/>
        </p:nvSpPr>
        <p:spPr>
          <a:xfrm>
            <a:off x="8961120" y="1965960"/>
            <a:ext cx="1920240" cy="0"/>
          </a:xfrm>
          <a:prstGeom prst="line">
            <a:avLst/>
          </a:prstGeom>
          <a:noFill/>
          <a:ln w="15875">
            <a:solidFill>
              <a:srgbClr val="CADCFC">
                <a:alpha val="80000"/>
              </a:srgbClr>
            </a:solidFill>
            <a:prstDash val="solid"/>
          </a:ln>
        </p:spPr>
      </p:sp>
      <p:sp>
        <p:nvSpPr>
          <p:cNvPr id="5" name="Shape 3"/>
          <p:cNvSpPr/>
          <p:nvPr/>
        </p:nvSpPr>
        <p:spPr>
          <a:xfrm>
            <a:off x="8961120" y="2560320"/>
            <a:ext cx="1920240" cy="0"/>
          </a:xfrm>
          <a:prstGeom prst="line">
            <a:avLst/>
          </a:prstGeom>
          <a:noFill/>
          <a:ln w="15875">
            <a:solidFill>
              <a:srgbClr val="CADCFC">
                <a:alpha val="80000"/>
              </a:srgbClr>
            </a:solidFill>
            <a:prstDash val="solid"/>
          </a:ln>
        </p:spPr>
      </p:sp>
      <p:sp>
        <p:nvSpPr>
          <p:cNvPr id="6" name="Shape 4"/>
          <p:cNvSpPr/>
          <p:nvPr/>
        </p:nvSpPr>
        <p:spPr>
          <a:xfrm>
            <a:off x="8961120" y="3154680"/>
            <a:ext cx="1920240" cy="0"/>
          </a:xfrm>
          <a:prstGeom prst="line">
            <a:avLst/>
          </a:prstGeom>
          <a:noFill/>
          <a:ln w="15875">
            <a:solidFill>
              <a:srgbClr val="CADCFC">
                <a:alpha val="80000"/>
              </a:srgbClr>
            </a:solidFill>
            <a:prstDash val="solid"/>
          </a:ln>
        </p:spPr>
      </p:sp>
      <p:sp>
        <p:nvSpPr>
          <p:cNvPr id="7" name="Shape 5"/>
          <p:cNvSpPr/>
          <p:nvPr/>
        </p:nvSpPr>
        <p:spPr>
          <a:xfrm>
            <a:off x="8961120" y="3749040"/>
            <a:ext cx="1920240" cy="0"/>
          </a:xfrm>
          <a:prstGeom prst="line">
            <a:avLst/>
          </a:prstGeom>
          <a:noFill/>
          <a:ln w="15875">
            <a:solidFill>
              <a:srgbClr val="CADCFC">
                <a:alpha val="80000"/>
              </a:srgbClr>
            </a:solidFill>
            <a:prstDash val="solid"/>
          </a:ln>
        </p:spPr>
      </p:sp>
      <p:sp>
        <p:nvSpPr>
          <p:cNvPr id="8" name="Shape 6"/>
          <p:cNvSpPr/>
          <p:nvPr/>
        </p:nvSpPr>
        <p:spPr>
          <a:xfrm>
            <a:off x="8961120" y="4343400"/>
            <a:ext cx="1920240" cy="0"/>
          </a:xfrm>
          <a:prstGeom prst="line">
            <a:avLst/>
          </a:prstGeom>
          <a:noFill/>
          <a:ln w="15875">
            <a:solidFill>
              <a:srgbClr val="CADCFC">
                <a:alpha val="80000"/>
              </a:srgbClr>
            </a:solidFill>
            <a:prstDash val="solid"/>
          </a:ln>
        </p:spPr>
      </p:sp>
      <p:sp>
        <p:nvSpPr>
          <p:cNvPr id="9" name="Shape 7"/>
          <p:cNvSpPr/>
          <p:nvPr/>
        </p:nvSpPr>
        <p:spPr>
          <a:xfrm>
            <a:off x="9646920" y="4297680"/>
            <a:ext cx="822960" cy="822960"/>
          </a:xfrm>
          <a:prstGeom prst="ellipse">
            <a:avLst/>
          </a:prstGeom>
          <a:solidFill>
            <a:srgbClr val="00C2A8"/>
          </a:solidFill>
          <a:ln/>
        </p:spPr>
      </p:sp>
      <p:sp>
        <p:nvSpPr>
          <p:cNvPr id="10" name="Text 8"/>
          <p:cNvSpPr txBox="1"/>
          <p:nvPr/>
        </p:nvSpPr>
        <p:spPr>
          <a:xfrm>
            <a:off x="640080" y="2331720"/>
            <a:ext cx="7406640" cy="1371600"/>
          </a:xfrm>
          <a:prstGeom prst="rect">
            <a:avLst/>
          </a:prstGeom>
          <a:noFill/>
          <a:ln/>
        </p:spPr>
        <p:txBody>
          <a:bodyPr wrap="square" lIns="0" tIns="0" rIns="0" bIns="0" rtlCol="0" anchor="b"/>
          <a:lstStyle/>
          <a:p>
            <a:pPr marL="0" indent="0">
              <a:buNone/>
            </a:pPr>
            <a:r>
              <a:rPr lang="en-US" sz="4000" b="1">
                <a:solidFill>
                  <a:srgbClr val="FFFFFF"/>
                </a:solidFill>
                <a:latin typeface="Cambria" pitchFamily="34" charset="0"/>
                <a:ea typeface="Cambria" pitchFamily="34" charset="-122"/>
                <a:cs typeface="Cambria" pitchFamily="34" charset="-120"/>
              </a:rPr>
              <a:t>AI DOCUMENT INTELLIGENCE PLATFORM</a:t>
            </a:r>
            <a:endParaRPr lang="en-US" sz="4000"/>
          </a:p>
        </p:txBody>
      </p:sp>
      <p:sp>
        <p:nvSpPr>
          <p:cNvPr id="11" name="Text 9"/>
          <p:cNvSpPr txBox="1"/>
          <p:nvPr/>
        </p:nvSpPr>
        <p:spPr>
          <a:xfrm>
            <a:off x="640080" y="3703320"/>
            <a:ext cx="7315200" cy="457200"/>
          </a:xfrm>
          <a:prstGeom prst="rect">
            <a:avLst/>
          </a:prstGeom>
          <a:noFill/>
          <a:ln/>
        </p:spPr>
        <p:txBody>
          <a:bodyPr wrap="square" lIns="0" tIns="0" rIns="0" bIns="0" rtlCol="0" anchor="ctr"/>
          <a:lstStyle/>
          <a:p>
            <a:pPr marL="0" indent="0">
              <a:buNone/>
            </a:pPr>
            <a:r>
              <a:rPr lang="en-US" sz="1600" i="1">
                <a:solidFill>
                  <a:srgbClr val="CADCFC"/>
                </a:solidFill>
                <a:latin typeface="Calibri" pitchFamily="34" charset="0"/>
                <a:ea typeface="Calibri" pitchFamily="34" charset="-122"/>
                <a:cs typeface="Calibri" pitchFamily="34" charset="-120"/>
              </a:rPr>
              <a:t>AI-powered document understanding and retrieval platform</a:t>
            </a:r>
            <a:endParaRPr lang="en-US" sz="1600"/>
          </a:p>
        </p:txBody>
      </p:sp>
      <p:sp>
        <p:nvSpPr>
          <p:cNvPr id="12" name="Shape 10"/>
          <p:cNvSpPr/>
          <p:nvPr/>
        </p:nvSpPr>
        <p:spPr>
          <a:xfrm>
            <a:off x="658368" y="4297680"/>
            <a:ext cx="2194560" cy="0"/>
          </a:xfrm>
          <a:prstGeom prst="line">
            <a:avLst/>
          </a:prstGeom>
          <a:noFill/>
          <a:ln w="31750">
            <a:solidFill>
              <a:srgbClr val="00C2A8"/>
            </a:solidFill>
            <a:prstDash val="solid"/>
          </a:ln>
        </p:spPr>
      </p:sp>
      <p:sp>
        <p:nvSpPr>
          <p:cNvPr id="13" name="Text 11"/>
          <p:cNvSpPr txBox="1"/>
          <p:nvPr/>
        </p:nvSpPr>
        <p:spPr>
          <a:xfrm>
            <a:off x="640080" y="4480560"/>
            <a:ext cx="7132320" cy="365760"/>
          </a:xfrm>
          <a:prstGeom prst="rect">
            <a:avLst/>
          </a:prstGeom>
          <a:noFill/>
          <a:ln/>
        </p:spPr>
        <p:txBody>
          <a:bodyPr wrap="square" lIns="0" tIns="0" rIns="0" bIns="0" rtlCol="0" anchor="ctr"/>
          <a:lstStyle/>
          <a:p>
            <a:pPr marL="0" indent="0">
              <a:buNone/>
            </a:pPr>
            <a:r>
              <a:rPr lang="en-US" sz="1250">
                <a:solidFill>
                  <a:srgbClr val="CADCFC"/>
                </a:solidFill>
                <a:latin typeface="Calibri"/>
                <a:ea typeface="Calibri"/>
                <a:cs typeface="Calibri"/>
              </a:rPr>
              <a:t> •  Retrieval-Augmented Generation over uploaded documents</a:t>
            </a:r>
            <a:endParaRPr lang="en-US" sz="1250">
              <a:latin typeface="Calibri"/>
              <a:ea typeface="Calibri"/>
              <a:cs typeface="Calibri"/>
            </a:endParaRPr>
          </a:p>
        </p:txBody>
      </p:sp>
      <p:sp>
        <p:nvSpPr>
          <p:cNvPr id="14" name="Text 12"/>
          <p:cNvSpPr txBox="1"/>
          <p:nvPr/>
        </p:nvSpPr>
        <p:spPr>
          <a:xfrm>
            <a:off x="640080" y="5989320"/>
            <a:ext cx="5486400" cy="320040"/>
          </a:xfrm>
          <a:prstGeom prst="rect">
            <a:avLst/>
          </a:prstGeom>
          <a:noFill/>
          <a:ln/>
        </p:spPr>
        <p:txBody>
          <a:bodyPr wrap="square" lIns="0" tIns="0" rIns="0" bIns="0" rtlCol="0" anchor="ctr"/>
          <a:lstStyle/>
          <a:p>
            <a:pPr marL="0" indent="0">
              <a:buNone/>
            </a:pPr>
            <a:r>
              <a:rPr lang="en-US" sz="1200">
                <a:solidFill>
                  <a:srgbClr val="AEB8DA"/>
                </a:solidFill>
                <a:latin typeface="Calibri" pitchFamily="34" charset="0"/>
                <a:ea typeface="Calibri" pitchFamily="34" charset="-122"/>
                <a:cs typeface="Calibri" pitchFamily="34" charset="-120"/>
              </a:rPr>
              <a:t>Presented by: Rinoy &amp; Sreelakshmi</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WHY &amp; WHAT</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The problem, and the solution</a:t>
            </a:r>
            <a:endParaRPr lang="en-US" sz="2700"/>
          </a:p>
        </p:txBody>
      </p:sp>
      <p:sp>
        <p:nvSpPr>
          <p:cNvPr id="4" name="Shape 2"/>
          <p:cNvSpPr/>
          <p:nvPr/>
        </p:nvSpPr>
        <p:spPr>
          <a:xfrm>
            <a:off x="457200" y="1463040"/>
            <a:ext cx="3611880" cy="1051560"/>
          </a:xfrm>
          <a:prstGeom prst="roundRect">
            <a:avLst>
              <a:gd name="adj" fmla="val 6087"/>
            </a:avLst>
          </a:prstGeom>
          <a:solidFill>
            <a:srgbClr val="F4F7FC"/>
          </a:solidFill>
          <a:ln w="9525">
            <a:solidFill>
              <a:srgbClr val="D9DFEE"/>
            </a:solidFill>
            <a:prstDash val="solid"/>
          </a:ln>
        </p:spPr>
      </p:sp>
      <p:sp>
        <p:nvSpPr>
          <p:cNvPr id="5" name="Shape 3"/>
          <p:cNvSpPr/>
          <p:nvPr/>
        </p:nvSpPr>
        <p:spPr>
          <a:xfrm>
            <a:off x="640080" y="1755648"/>
            <a:ext cx="457200" cy="457200"/>
          </a:xfrm>
          <a:prstGeom prst="ellipse">
            <a:avLst/>
          </a:prstGeom>
          <a:solidFill>
            <a:srgbClr val="1E2761"/>
          </a:solidFill>
          <a:ln/>
        </p:spPr>
      </p:sp>
      <p:sp>
        <p:nvSpPr>
          <p:cNvPr id="6" name="Text 4"/>
          <p:cNvSpPr txBox="1"/>
          <p:nvPr/>
        </p:nvSpPr>
        <p:spPr>
          <a:xfrm>
            <a:off x="640080" y="1755648"/>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1</a:t>
            </a:r>
            <a:endParaRPr lang="en-US" sz="1600"/>
          </a:p>
        </p:txBody>
      </p:sp>
      <p:sp>
        <p:nvSpPr>
          <p:cNvPr id="7" name="Text 5"/>
          <p:cNvSpPr txBox="1"/>
          <p:nvPr/>
        </p:nvSpPr>
        <p:spPr>
          <a:xfrm>
            <a:off x="1234440" y="1600200"/>
            <a:ext cx="2651760" cy="82296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Documents pile up faster than anyone can read them</a:t>
            </a:r>
            <a:endParaRPr lang="en-US" sz="1250"/>
          </a:p>
        </p:txBody>
      </p:sp>
      <p:sp>
        <p:nvSpPr>
          <p:cNvPr id="8" name="Shape 6"/>
          <p:cNvSpPr/>
          <p:nvPr/>
        </p:nvSpPr>
        <p:spPr>
          <a:xfrm>
            <a:off x="4288536" y="1463040"/>
            <a:ext cx="3611880" cy="1051560"/>
          </a:xfrm>
          <a:prstGeom prst="roundRect">
            <a:avLst>
              <a:gd name="adj" fmla="val 6087"/>
            </a:avLst>
          </a:prstGeom>
          <a:solidFill>
            <a:srgbClr val="F4F7FC"/>
          </a:solidFill>
          <a:ln w="9525">
            <a:solidFill>
              <a:srgbClr val="D9DFEE"/>
            </a:solidFill>
            <a:prstDash val="solid"/>
          </a:ln>
        </p:spPr>
      </p:sp>
      <p:sp>
        <p:nvSpPr>
          <p:cNvPr id="9" name="Shape 7"/>
          <p:cNvSpPr/>
          <p:nvPr/>
        </p:nvSpPr>
        <p:spPr>
          <a:xfrm>
            <a:off x="4471416" y="1755648"/>
            <a:ext cx="457200" cy="457200"/>
          </a:xfrm>
          <a:prstGeom prst="ellipse">
            <a:avLst/>
          </a:prstGeom>
          <a:solidFill>
            <a:srgbClr val="1E2761"/>
          </a:solidFill>
          <a:ln/>
        </p:spPr>
      </p:sp>
      <p:sp>
        <p:nvSpPr>
          <p:cNvPr id="10" name="Text 8"/>
          <p:cNvSpPr txBox="1"/>
          <p:nvPr/>
        </p:nvSpPr>
        <p:spPr>
          <a:xfrm>
            <a:off x="4471416" y="1755648"/>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2</a:t>
            </a:r>
            <a:endParaRPr lang="en-US" sz="1600"/>
          </a:p>
        </p:txBody>
      </p:sp>
      <p:sp>
        <p:nvSpPr>
          <p:cNvPr id="11" name="Text 9"/>
          <p:cNvSpPr txBox="1"/>
          <p:nvPr/>
        </p:nvSpPr>
        <p:spPr>
          <a:xfrm>
            <a:off x="5065776" y="1600200"/>
            <a:ext cx="2651760" cy="82296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Keyword search misses answers phrased differently</a:t>
            </a:r>
            <a:endParaRPr lang="en-US" sz="1250"/>
          </a:p>
        </p:txBody>
      </p:sp>
      <p:sp>
        <p:nvSpPr>
          <p:cNvPr id="12" name="Shape 10"/>
          <p:cNvSpPr/>
          <p:nvPr/>
        </p:nvSpPr>
        <p:spPr>
          <a:xfrm>
            <a:off x="8119872" y="1463040"/>
            <a:ext cx="3611880" cy="1051560"/>
          </a:xfrm>
          <a:prstGeom prst="roundRect">
            <a:avLst>
              <a:gd name="adj" fmla="val 6087"/>
            </a:avLst>
          </a:prstGeom>
          <a:solidFill>
            <a:srgbClr val="F4F7FC"/>
          </a:solidFill>
          <a:ln w="9525">
            <a:solidFill>
              <a:srgbClr val="D9DFEE"/>
            </a:solidFill>
            <a:prstDash val="solid"/>
          </a:ln>
        </p:spPr>
      </p:sp>
      <p:sp>
        <p:nvSpPr>
          <p:cNvPr id="13" name="Shape 11"/>
          <p:cNvSpPr/>
          <p:nvPr/>
        </p:nvSpPr>
        <p:spPr>
          <a:xfrm>
            <a:off x="8302752" y="1755648"/>
            <a:ext cx="457200" cy="457200"/>
          </a:xfrm>
          <a:prstGeom prst="ellipse">
            <a:avLst/>
          </a:prstGeom>
          <a:solidFill>
            <a:srgbClr val="1E2761"/>
          </a:solidFill>
          <a:ln/>
        </p:spPr>
      </p:sp>
      <p:sp>
        <p:nvSpPr>
          <p:cNvPr id="14" name="Text 12"/>
          <p:cNvSpPr txBox="1"/>
          <p:nvPr/>
        </p:nvSpPr>
        <p:spPr>
          <a:xfrm>
            <a:off x="8302752" y="1755648"/>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3</a:t>
            </a:r>
            <a:endParaRPr lang="en-US" sz="1600"/>
          </a:p>
        </p:txBody>
      </p:sp>
      <p:sp>
        <p:nvSpPr>
          <p:cNvPr id="15" name="Text 13"/>
          <p:cNvSpPr txBox="1"/>
          <p:nvPr/>
        </p:nvSpPr>
        <p:spPr>
          <a:xfrm>
            <a:off x="8897112" y="1600200"/>
            <a:ext cx="2651760" cy="82296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Manual lookup through long PDFs wastes time</a:t>
            </a:r>
            <a:endParaRPr lang="en-US" sz="1250"/>
          </a:p>
        </p:txBody>
      </p:sp>
      <p:sp>
        <p:nvSpPr>
          <p:cNvPr id="16" name="Text 14"/>
          <p:cNvSpPr txBox="1"/>
          <p:nvPr/>
        </p:nvSpPr>
        <p:spPr>
          <a:xfrm>
            <a:off x="457200" y="2788920"/>
            <a:ext cx="7315200" cy="320040"/>
          </a:xfrm>
          <a:prstGeom prst="rect">
            <a:avLst/>
          </a:prstGeom>
          <a:noFill/>
          <a:ln/>
        </p:spPr>
        <p:txBody>
          <a:bodyPr wrap="square" lIns="0" tIns="0" rIns="0" bIns="0" rtlCol="0" anchor="ctr"/>
          <a:lstStyle/>
          <a:p>
            <a:pPr marL="0" indent="0">
              <a:buNone/>
            </a:pPr>
            <a:r>
              <a:rPr lang="en-US" sz="1500" b="1">
                <a:solidFill>
                  <a:srgbClr val="1E2761"/>
                </a:solidFill>
                <a:latin typeface="Cambria" pitchFamily="34" charset="0"/>
                <a:ea typeface="Cambria" pitchFamily="34" charset="-122"/>
                <a:cs typeface="Cambria" pitchFamily="34" charset="-120"/>
              </a:rPr>
              <a:t>Solution: a retrieval-augmented pipeline</a:t>
            </a:r>
            <a:endParaRPr lang="en-US" sz="1500"/>
          </a:p>
        </p:txBody>
      </p:sp>
      <p:sp>
        <p:nvSpPr>
          <p:cNvPr id="17" name="Shape 15"/>
          <p:cNvSpPr/>
          <p:nvPr/>
        </p:nvSpPr>
        <p:spPr>
          <a:xfrm>
            <a:off x="457200" y="3154680"/>
            <a:ext cx="1741932" cy="777240"/>
          </a:xfrm>
          <a:prstGeom prst="roundRect">
            <a:avLst>
              <a:gd name="adj" fmla="val 9412"/>
            </a:avLst>
          </a:prstGeom>
          <a:solidFill>
            <a:srgbClr val="1E2761"/>
          </a:solidFill>
          <a:ln/>
        </p:spPr>
      </p:sp>
      <p:sp>
        <p:nvSpPr>
          <p:cNvPr id="18" name="Text 16"/>
          <p:cNvSpPr txBox="1"/>
          <p:nvPr/>
        </p:nvSpPr>
        <p:spPr>
          <a:xfrm>
            <a:off x="502920" y="3154680"/>
            <a:ext cx="1650492"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Documents</a:t>
            </a:r>
            <a:endParaRPr lang="en-US" sz="1200"/>
          </a:p>
        </p:txBody>
      </p:sp>
      <p:sp>
        <p:nvSpPr>
          <p:cNvPr id="19" name="Shape 17"/>
          <p:cNvSpPr/>
          <p:nvPr/>
        </p:nvSpPr>
        <p:spPr>
          <a:xfrm>
            <a:off x="2208276" y="3470148"/>
            <a:ext cx="146304" cy="117043"/>
          </a:xfrm>
          <a:prstGeom prst="rightArrow">
            <a:avLst/>
          </a:prstGeom>
          <a:solidFill>
            <a:srgbClr val="00C2A8"/>
          </a:solidFill>
          <a:ln/>
        </p:spPr>
      </p:sp>
      <p:sp>
        <p:nvSpPr>
          <p:cNvPr id="20" name="Shape 18"/>
          <p:cNvSpPr/>
          <p:nvPr/>
        </p:nvSpPr>
        <p:spPr>
          <a:xfrm>
            <a:off x="2363724" y="3154680"/>
            <a:ext cx="1741932" cy="777240"/>
          </a:xfrm>
          <a:prstGeom prst="roundRect">
            <a:avLst>
              <a:gd name="adj" fmla="val 9412"/>
            </a:avLst>
          </a:prstGeom>
          <a:solidFill>
            <a:srgbClr val="1E2761"/>
          </a:solidFill>
          <a:ln/>
        </p:spPr>
      </p:sp>
      <p:sp>
        <p:nvSpPr>
          <p:cNvPr id="21" name="Text 19"/>
          <p:cNvSpPr txBox="1"/>
          <p:nvPr/>
        </p:nvSpPr>
        <p:spPr>
          <a:xfrm>
            <a:off x="2409444" y="3154680"/>
            <a:ext cx="1650492"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Chunks</a:t>
            </a:r>
            <a:endParaRPr lang="en-US" sz="1200"/>
          </a:p>
        </p:txBody>
      </p:sp>
      <p:sp>
        <p:nvSpPr>
          <p:cNvPr id="22" name="Shape 20"/>
          <p:cNvSpPr/>
          <p:nvPr/>
        </p:nvSpPr>
        <p:spPr>
          <a:xfrm>
            <a:off x="4114800" y="3470148"/>
            <a:ext cx="146304" cy="117043"/>
          </a:xfrm>
          <a:prstGeom prst="rightArrow">
            <a:avLst/>
          </a:prstGeom>
          <a:solidFill>
            <a:srgbClr val="00C2A8"/>
          </a:solidFill>
          <a:ln/>
        </p:spPr>
      </p:sp>
      <p:sp>
        <p:nvSpPr>
          <p:cNvPr id="23" name="Shape 21"/>
          <p:cNvSpPr/>
          <p:nvPr/>
        </p:nvSpPr>
        <p:spPr>
          <a:xfrm>
            <a:off x="4270248" y="3154680"/>
            <a:ext cx="1741932" cy="777240"/>
          </a:xfrm>
          <a:prstGeom prst="roundRect">
            <a:avLst>
              <a:gd name="adj" fmla="val 9412"/>
            </a:avLst>
          </a:prstGeom>
          <a:solidFill>
            <a:srgbClr val="1E2761"/>
          </a:solidFill>
          <a:ln/>
        </p:spPr>
      </p:sp>
      <p:sp>
        <p:nvSpPr>
          <p:cNvPr id="24" name="Text 22"/>
          <p:cNvSpPr txBox="1"/>
          <p:nvPr/>
        </p:nvSpPr>
        <p:spPr>
          <a:xfrm>
            <a:off x="4315968" y="3154680"/>
            <a:ext cx="1650492"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Embeddings</a:t>
            </a:r>
            <a:endParaRPr lang="en-US" sz="1200"/>
          </a:p>
        </p:txBody>
      </p:sp>
      <p:sp>
        <p:nvSpPr>
          <p:cNvPr id="25" name="Shape 23"/>
          <p:cNvSpPr/>
          <p:nvPr/>
        </p:nvSpPr>
        <p:spPr>
          <a:xfrm>
            <a:off x="6021324" y="3470148"/>
            <a:ext cx="146304" cy="117043"/>
          </a:xfrm>
          <a:prstGeom prst="rightArrow">
            <a:avLst/>
          </a:prstGeom>
          <a:solidFill>
            <a:srgbClr val="00C2A8"/>
          </a:solidFill>
          <a:ln/>
        </p:spPr>
      </p:sp>
      <p:sp>
        <p:nvSpPr>
          <p:cNvPr id="26" name="Shape 24"/>
          <p:cNvSpPr/>
          <p:nvPr/>
        </p:nvSpPr>
        <p:spPr>
          <a:xfrm>
            <a:off x="6176772" y="3154680"/>
            <a:ext cx="1741932" cy="777240"/>
          </a:xfrm>
          <a:prstGeom prst="roundRect">
            <a:avLst>
              <a:gd name="adj" fmla="val 9412"/>
            </a:avLst>
          </a:prstGeom>
          <a:solidFill>
            <a:srgbClr val="1E2761"/>
          </a:solidFill>
          <a:ln/>
        </p:spPr>
      </p:sp>
      <p:sp>
        <p:nvSpPr>
          <p:cNvPr id="27" name="Text 25"/>
          <p:cNvSpPr txBox="1"/>
          <p:nvPr/>
        </p:nvSpPr>
        <p:spPr>
          <a:xfrm>
            <a:off x="6222492" y="3154680"/>
            <a:ext cx="1650492"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Retrieval</a:t>
            </a:r>
            <a:endParaRPr lang="en-US" sz="1200"/>
          </a:p>
        </p:txBody>
      </p:sp>
      <p:sp>
        <p:nvSpPr>
          <p:cNvPr id="28" name="Shape 26"/>
          <p:cNvSpPr/>
          <p:nvPr/>
        </p:nvSpPr>
        <p:spPr>
          <a:xfrm>
            <a:off x="7927848" y="3470148"/>
            <a:ext cx="146304" cy="117043"/>
          </a:xfrm>
          <a:prstGeom prst="rightArrow">
            <a:avLst/>
          </a:prstGeom>
          <a:solidFill>
            <a:srgbClr val="00C2A8"/>
          </a:solidFill>
          <a:ln/>
        </p:spPr>
      </p:sp>
      <p:sp>
        <p:nvSpPr>
          <p:cNvPr id="29" name="Shape 27"/>
          <p:cNvSpPr/>
          <p:nvPr/>
        </p:nvSpPr>
        <p:spPr>
          <a:xfrm>
            <a:off x="8083296" y="3154680"/>
            <a:ext cx="1741932" cy="777240"/>
          </a:xfrm>
          <a:prstGeom prst="roundRect">
            <a:avLst>
              <a:gd name="adj" fmla="val 9412"/>
            </a:avLst>
          </a:prstGeom>
          <a:solidFill>
            <a:srgbClr val="1E2761"/>
          </a:solidFill>
          <a:ln/>
        </p:spPr>
      </p:sp>
      <p:sp>
        <p:nvSpPr>
          <p:cNvPr id="30" name="Text 28"/>
          <p:cNvSpPr txBox="1"/>
          <p:nvPr/>
        </p:nvSpPr>
        <p:spPr>
          <a:xfrm>
            <a:off x="8129016" y="3154680"/>
            <a:ext cx="1650492"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RAG + Gemini</a:t>
            </a:r>
            <a:endParaRPr lang="en-US" sz="1200"/>
          </a:p>
        </p:txBody>
      </p:sp>
      <p:sp>
        <p:nvSpPr>
          <p:cNvPr id="31" name="Shape 29"/>
          <p:cNvSpPr/>
          <p:nvPr/>
        </p:nvSpPr>
        <p:spPr>
          <a:xfrm>
            <a:off x="9834372" y="3470148"/>
            <a:ext cx="146304" cy="117043"/>
          </a:xfrm>
          <a:prstGeom prst="rightArrow">
            <a:avLst/>
          </a:prstGeom>
          <a:solidFill>
            <a:srgbClr val="00C2A8"/>
          </a:solidFill>
          <a:ln/>
        </p:spPr>
      </p:sp>
      <p:sp>
        <p:nvSpPr>
          <p:cNvPr id="32" name="Shape 30"/>
          <p:cNvSpPr/>
          <p:nvPr/>
        </p:nvSpPr>
        <p:spPr>
          <a:xfrm>
            <a:off x="9989820" y="3154680"/>
            <a:ext cx="1741932" cy="777240"/>
          </a:xfrm>
          <a:prstGeom prst="roundRect">
            <a:avLst>
              <a:gd name="adj" fmla="val 9412"/>
            </a:avLst>
          </a:prstGeom>
          <a:solidFill>
            <a:srgbClr val="00C2A8"/>
          </a:solidFill>
          <a:ln/>
        </p:spPr>
      </p:sp>
      <p:sp>
        <p:nvSpPr>
          <p:cNvPr id="33" name="Text 31"/>
          <p:cNvSpPr txBox="1"/>
          <p:nvPr/>
        </p:nvSpPr>
        <p:spPr>
          <a:xfrm>
            <a:off x="10035540" y="3154680"/>
            <a:ext cx="1650492" cy="777240"/>
          </a:xfrm>
          <a:prstGeom prst="rect">
            <a:avLst/>
          </a:prstGeom>
          <a:noFill/>
          <a:ln/>
        </p:spPr>
        <p:txBody>
          <a:bodyPr wrap="square" lIns="0" tIns="0" rIns="0" bIns="0" rtlCol="0" anchor="ctr"/>
          <a:lstStyle/>
          <a:p>
            <a:pPr marL="0" indent="0" algn="ctr">
              <a:buNone/>
            </a:pPr>
            <a:r>
              <a:rPr lang="en-US" sz="1200" b="1">
                <a:solidFill>
                  <a:srgbClr val="141B47"/>
                </a:solidFill>
                <a:latin typeface="Calibri" pitchFamily="34" charset="0"/>
                <a:ea typeface="Calibri" pitchFamily="34" charset="-122"/>
                <a:cs typeface="Calibri" pitchFamily="34" charset="-120"/>
              </a:rPr>
              <a:t>Answer + Sources</a:t>
            </a:r>
            <a:endParaRPr lang="en-US" sz="1200"/>
          </a:p>
        </p:txBody>
      </p:sp>
      <p:sp>
        <p:nvSpPr>
          <p:cNvPr id="34" name="Shape 32"/>
          <p:cNvSpPr/>
          <p:nvPr/>
        </p:nvSpPr>
        <p:spPr>
          <a:xfrm>
            <a:off x="457200" y="4343400"/>
            <a:ext cx="11274552" cy="1737360"/>
          </a:xfrm>
          <a:prstGeom prst="roundRect">
            <a:avLst>
              <a:gd name="adj" fmla="val 3684"/>
            </a:avLst>
          </a:prstGeom>
          <a:solidFill>
            <a:srgbClr val="1E2761"/>
          </a:solidFill>
          <a:ln w="9525">
            <a:solidFill>
              <a:srgbClr val="D9DFEE"/>
            </a:solidFill>
            <a:prstDash val="solid"/>
          </a:ln>
        </p:spPr>
      </p:sp>
      <p:sp>
        <p:nvSpPr>
          <p:cNvPr id="35" name="Text 33"/>
          <p:cNvSpPr txBox="1"/>
          <p:nvPr/>
        </p:nvSpPr>
        <p:spPr>
          <a:xfrm>
            <a:off x="777240" y="4526280"/>
            <a:ext cx="2743200" cy="320040"/>
          </a:xfrm>
          <a:prstGeom prst="rect">
            <a:avLst/>
          </a:prstGeom>
          <a:noFill/>
          <a:ln/>
        </p:spPr>
        <p:txBody>
          <a:bodyPr wrap="square" lIns="0" tIns="0" rIns="0" bIns="0" rtlCol="0" anchor="ctr"/>
          <a:lstStyle/>
          <a:p>
            <a:pPr marL="0" indent="0">
              <a:buNone/>
            </a:pPr>
            <a:r>
              <a:rPr lang="en-US" sz="1200" b="1">
                <a:solidFill>
                  <a:srgbClr val="00C2A8"/>
                </a:solidFill>
                <a:latin typeface="Calibri" pitchFamily="34" charset="0"/>
                <a:ea typeface="Calibri" pitchFamily="34" charset="-122"/>
                <a:cs typeface="Calibri" pitchFamily="34" charset="-120"/>
              </a:rPr>
              <a:t>Goal</a:t>
            </a:r>
            <a:endParaRPr lang="en-US" sz="1200"/>
          </a:p>
        </p:txBody>
      </p:sp>
      <p:sp>
        <p:nvSpPr>
          <p:cNvPr id="36" name="Text 34"/>
          <p:cNvSpPr txBox="1"/>
          <p:nvPr/>
        </p:nvSpPr>
        <p:spPr>
          <a:xfrm>
            <a:off x="777240" y="4846320"/>
            <a:ext cx="10607040" cy="114300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Let users ask natural-language questions about their document knowledge — and get grounded, source-backed answers. Every document is chunked, embedded, and indexed for similarity search. Every question is answered from retrieved evidence, never from the model's memory alone.</a:t>
            </a:r>
            <a:endParaRPr 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SCOPE</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What we built, and the stack behind it</a:t>
            </a:r>
            <a:endParaRPr lang="en-US" sz="2700"/>
          </a:p>
        </p:txBody>
      </p:sp>
      <p:sp>
        <p:nvSpPr>
          <p:cNvPr id="4" name="Shape 2"/>
          <p:cNvSpPr/>
          <p:nvPr/>
        </p:nvSpPr>
        <p:spPr>
          <a:xfrm>
            <a:off x="457200" y="1463040"/>
            <a:ext cx="5577840" cy="4572000"/>
          </a:xfrm>
          <a:prstGeom prst="roundRect">
            <a:avLst>
              <a:gd name="adj" fmla="val 1400"/>
            </a:avLst>
          </a:prstGeom>
          <a:solidFill>
            <a:srgbClr val="F4F7FC"/>
          </a:solidFill>
          <a:ln w="9525">
            <a:solidFill>
              <a:srgbClr val="D9DFEE"/>
            </a:solidFill>
            <a:prstDash val="solid"/>
          </a:ln>
        </p:spPr>
      </p:sp>
      <p:sp>
        <p:nvSpPr>
          <p:cNvPr id="5" name="Text 3"/>
          <p:cNvSpPr txBox="1"/>
          <p:nvPr/>
        </p:nvSpPr>
        <p:spPr>
          <a:xfrm>
            <a:off x="731520" y="1645920"/>
            <a:ext cx="5029200" cy="320040"/>
          </a:xfrm>
          <a:prstGeom prst="rect">
            <a:avLst/>
          </a:prstGeom>
          <a:noFill/>
          <a:ln/>
        </p:spPr>
        <p:txBody>
          <a:bodyPr wrap="square" lIns="0" tIns="0" rIns="0" bIns="0" rtlCol="0" anchor="ctr"/>
          <a:lstStyle/>
          <a:p>
            <a:pPr marL="0" indent="0">
              <a:buNone/>
            </a:pPr>
            <a:r>
              <a:rPr lang="en-US" sz="1500" b="1">
                <a:solidFill>
                  <a:srgbClr val="1E2761"/>
                </a:solidFill>
                <a:latin typeface="Cambria" pitchFamily="34" charset="0"/>
                <a:ea typeface="Cambria" pitchFamily="34" charset="-122"/>
                <a:cs typeface="Cambria" pitchFamily="34" charset="-120"/>
              </a:rPr>
              <a:t>Capabilities</a:t>
            </a:r>
            <a:endParaRPr lang="en-US" sz="1500"/>
          </a:p>
        </p:txBody>
      </p:sp>
      <p:sp>
        <p:nvSpPr>
          <p:cNvPr id="6" name="Text 4"/>
          <p:cNvSpPr txBox="1"/>
          <p:nvPr/>
        </p:nvSpPr>
        <p:spPr>
          <a:xfrm>
            <a:off x="731520" y="2057400"/>
            <a:ext cx="5029200" cy="274320"/>
          </a:xfrm>
          <a:prstGeom prst="rect">
            <a:avLst/>
          </a:prstGeom>
          <a:noFill/>
          <a:ln/>
        </p:spPr>
        <p:txBody>
          <a:bodyPr wrap="square" lIns="0" tIns="0" rIns="0" bIns="0" rtlCol="0" anchor="ctr"/>
          <a:lstStyle/>
          <a:p>
            <a:pPr marL="0" indent="0">
              <a:buNone/>
            </a:pPr>
            <a:r>
              <a:rPr lang="en-US" sz="1250" b="1">
                <a:solidFill>
                  <a:srgbClr val="00C2A8"/>
                </a:solidFill>
                <a:latin typeface="Calibri" pitchFamily="34" charset="0"/>
                <a:ea typeface="Calibri" pitchFamily="34" charset="-122"/>
                <a:cs typeface="Calibri" pitchFamily="34" charset="-120"/>
              </a:rPr>
              <a:t>User</a:t>
            </a:r>
            <a:endParaRPr lang="en-US" sz="1250"/>
          </a:p>
        </p:txBody>
      </p:sp>
      <p:sp>
        <p:nvSpPr>
          <p:cNvPr id="7" name="Text 5"/>
          <p:cNvSpPr txBox="1"/>
          <p:nvPr/>
        </p:nvSpPr>
        <p:spPr>
          <a:xfrm>
            <a:off x="731520" y="2377440"/>
            <a:ext cx="5029200" cy="1097280"/>
          </a:xfrm>
          <a:prstGeom prst="rect">
            <a:avLst/>
          </a:prstGeom>
          <a:noFill/>
          <a:ln/>
        </p:spPr>
        <p:txBody>
          <a:bodyPr wrap="square" lIns="0" tIns="0" rIns="0" bIns="0" rtlCol="0" anchor="t"/>
          <a:lstStyle/>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Register / login, upload documents</a:t>
            </a:r>
            <a:endParaRPr lang="en-US" sz="1250"/>
          </a:p>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Ask questions, view answers &amp; sources</a:t>
            </a:r>
            <a:endParaRPr lang="en-US" sz="1250"/>
          </a:p>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View personal query history</a:t>
            </a:r>
            <a:endParaRPr lang="en-US" sz="1250"/>
          </a:p>
        </p:txBody>
      </p:sp>
      <p:sp>
        <p:nvSpPr>
          <p:cNvPr id="8" name="Text 6"/>
          <p:cNvSpPr txBox="1"/>
          <p:nvPr/>
        </p:nvSpPr>
        <p:spPr>
          <a:xfrm>
            <a:off x="731520" y="3429000"/>
            <a:ext cx="5029200" cy="274320"/>
          </a:xfrm>
          <a:prstGeom prst="rect">
            <a:avLst/>
          </a:prstGeom>
          <a:noFill/>
          <a:ln/>
        </p:spPr>
        <p:txBody>
          <a:bodyPr wrap="square" lIns="0" tIns="0" rIns="0" bIns="0" rtlCol="0" anchor="ctr"/>
          <a:lstStyle/>
          <a:p>
            <a:pPr marL="0" indent="0">
              <a:buNone/>
            </a:pPr>
            <a:r>
              <a:rPr lang="en-US" sz="1250" b="1">
                <a:solidFill>
                  <a:srgbClr val="00C2A8"/>
                </a:solidFill>
                <a:latin typeface="Calibri" pitchFamily="34" charset="0"/>
                <a:ea typeface="Calibri" pitchFamily="34" charset="-122"/>
                <a:cs typeface="Calibri" pitchFamily="34" charset="-120"/>
              </a:rPr>
              <a:t>Admin</a:t>
            </a:r>
            <a:endParaRPr lang="en-US" sz="1250"/>
          </a:p>
        </p:txBody>
      </p:sp>
      <p:sp>
        <p:nvSpPr>
          <p:cNvPr id="9" name="Text 7"/>
          <p:cNvSpPr txBox="1"/>
          <p:nvPr/>
        </p:nvSpPr>
        <p:spPr>
          <a:xfrm>
            <a:off x="731520" y="3749040"/>
            <a:ext cx="5029200" cy="914400"/>
          </a:xfrm>
          <a:prstGeom prst="rect">
            <a:avLst/>
          </a:prstGeom>
          <a:noFill/>
          <a:ln/>
        </p:spPr>
        <p:txBody>
          <a:bodyPr wrap="square" lIns="0" tIns="0" rIns="0" bIns="0" rtlCol="0" anchor="t"/>
          <a:lstStyle/>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Manage users &amp; documents; upload for any owner</a:t>
            </a:r>
            <a:endParaRPr lang="en-US" sz="1250"/>
          </a:p>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Ask document questions; inspect all query history</a:t>
            </a:r>
            <a:endParaRPr lang="en-US" sz="1250"/>
          </a:p>
        </p:txBody>
      </p:sp>
      <p:sp>
        <p:nvSpPr>
          <p:cNvPr id="10" name="Text 8"/>
          <p:cNvSpPr txBox="1"/>
          <p:nvPr/>
        </p:nvSpPr>
        <p:spPr>
          <a:xfrm>
            <a:off x="731520" y="4709160"/>
            <a:ext cx="5029200" cy="274320"/>
          </a:xfrm>
          <a:prstGeom prst="rect">
            <a:avLst/>
          </a:prstGeom>
          <a:noFill/>
          <a:ln/>
        </p:spPr>
        <p:txBody>
          <a:bodyPr wrap="square" lIns="0" tIns="0" rIns="0" bIns="0" rtlCol="0" anchor="ctr"/>
          <a:lstStyle/>
          <a:p>
            <a:pPr marL="0" indent="0">
              <a:buNone/>
            </a:pPr>
            <a:r>
              <a:rPr lang="en-US" sz="1250" b="1">
                <a:solidFill>
                  <a:srgbClr val="00C2A8"/>
                </a:solidFill>
                <a:latin typeface="Calibri" pitchFamily="34" charset="0"/>
                <a:ea typeface="Calibri" pitchFamily="34" charset="-122"/>
                <a:cs typeface="Calibri" pitchFamily="34" charset="-120"/>
              </a:rPr>
              <a:t>Technical</a:t>
            </a:r>
            <a:endParaRPr lang="en-US" sz="1250"/>
          </a:p>
        </p:txBody>
      </p:sp>
      <p:sp>
        <p:nvSpPr>
          <p:cNvPr id="11" name="Text 9"/>
          <p:cNvSpPr txBox="1"/>
          <p:nvPr/>
        </p:nvSpPr>
        <p:spPr>
          <a:xfrm>
            <a:off x="731520" y="5029200"/>
            <a:ext cx="5029200" cy="914400"/>
          </a:xfrm>
          <a:prstGeom prst="rect">
            <a:avLst/>
          </a:prstGeom>
          <a:noFill/>
          <a:ln/>
        </p:spPr>
        <p:txBody>
          <a:bodyPr wrap="square" lIns="0" tIns="0" rIns="0" bIns="0" rtlCol="0" anchor="t"/>
          <a:lstStyle/>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Async processing, chunking, embeddings</a:t>
            </a:r>
            <a:endParaRPr lang="en-US" sz="1250"/>
          </a:p>
          <a:p>
            <a:pPr marL="342900" indent="-342900">
              <a:spcAft>
                <a:spcPts val="400"/>
              </a:spcAft>
              <a:buSzPct val="100000"/>
              <a:buChar char="•"/>
            </a:pPr>
            <a:r>
              <a:rPr lang="en-US" sz="1250">
                <a:solidFill>
                  <a:srgbClr val="1A2036"/>
                </a:solidFill>
                <a:latin typeface="Calibri" pitchFamily="34" charset="0"/>
                <a:ea typeface="Calibri" pitchFamily="34" charset="-122"/>
                <a:cs typeface="Calibri" pitchFamily="34" charset="-120"/>
              </a:rPr>
              <a:t>Similarity retrieval, RAG generation, JWT + roles</a:t>
            </a:r>
            <a:endParaRPr lang="en-US" sz="1250"/>
          </a:p>
        </p:txBody>
      </p:sp>
      <p:sp>
        <p:nvSpPr>
          <p:cNvPr id="12" name="Shape 10"/>
          <p:cNvSpPr/>
          <p:nvPr/>
        </p:nvSpPr>
        <p:spPr>
          <a:xfrm>
            <a:off x="6263640" y="1463040"/>
            <a:ext cx="5468112" cy="4572000"/>
          </a:xfrm>
          <a:prstGeom prst="roundRect">
            <a:avLst>
              <a:gd name="adj" fmla="val 1400"/>
            </a:avLst>
          </a:prstGeom>
          <a:solidFill>
            <a:srgbClr val="F4F7FC"/>
          </a:solidFill>
          <a:ln w="9525">
            <a:solidFill>
              <a:srgbClr val="D9DFEE"/>
            </a:solidFill>
            <a:prstDash val="solid"/>
          </a:ln>
        </p:spPr>
      </p:sp>
      <p:sp>
        <p:nvSpPr>
          <p:cNvPr id="13" name="Text 11"/>
          <p:cNvSpPr txBox="1"/>
          <p:nvPr/>
        </p:nvSpPr>
        <p:spPr>
          <a:xfrm>
            <a:off x="6537960" y="1645920"/>
            <a:ext cx="4919472" cy="320040"/>
          </a:xfrm>
          <a:prstGeom prst="rect">
            <a:avLst/>
          </a:prstGeom>
          <a:noFill/>
          <a:ln/>
        </p:spPr>
        <p:txBody>
          <a:bodyPr wrap="square" lIns="0" tIns="0" rIns="0" bIns="0" rtlCol="0" anchor="ctr"/>
          <a:lstStyle/>
          <a:p>
            <a:pPr marL="0" indent="0">
              <a:buNone/>
            </a:pPr>
            <a:r>
              <a:rPr lang="en-US" sz="1500" b="1">
                <a:solidFill>
                  <a:srgbClr val="1E2761"/>
                </a:solidFill>
                <a:latin typeface="Cambria" pitchFamily="34" charset="0"/>
                <a:ea typeface="Cambria" pitchFamily="34" charset="-122"/>
                <a:cs typeface="Cambria" pitchFamily="34" charset="-120"/>
              </a:rPr>
              <a:t>Technology Stack</a:t>
            </a:r>
            <a:endParaRPr lang="en-US" sz="1500"/>
          </a:p>
        </p:txBody>
      </p:sp>
      <p:sp>
        <p:nvSpPr>
          <p:cNvPr id="14" name="Text 12"/>
          <p:cNvSpPr txBox="1"/>
          <p:nvPr/>
        </p:nvSpPr>
        <p:spPr>
          <a:xfrm>
            <a:off x="6537960" y="2148840"/>
            <a:ext cx="4919472" cy="274320"/>
          </a:xfrm>
          <a:prstGeom prst="rect">
            <a:avLst/>
          </a:prstGeom>
          <a:noFill/>
          <a:ln/>
        </p:spPr>
        <p:txBody>
          <a:bodyPr wrap="square" lIns="0" tIns="0" rIns="0" bIns="0" rtlCol="0" anchor="ctr"/>
          <a:lstStyle/>
          <a:p>
            <a:pPr marL="0" indent="0">
              <a:buNone/>
            </a:pPr>
            <a:r>
              <a:rPr lang="en-US" sz="1250" b="1">
                <a:solidFill>
                  <a:srgbClr val="00C2A8"/>
                </a:solidFill>
                <a:latin typeface="Calibri" pitchFamily="34" charset="0"/>
                <a:ea typeface="Calibri" pitchFamily="34" charset="-122"/>
                <a:cs typeface="Calibri" pitchFamily="34" charset="-120"/>
              </a:rPr>
              <a:t>Backend</a:t>
            </a:r>
            <a:endParaRPr lang="en-US" sz="1250"/>
          </a:p>
        </p:txBody>
      </p:sp>
      <p:sp>
        <p:nvSpPr>
          <p:cNvPr id="15" name="Text 13"/>
          <p:cNvSpPr txBox="1"/>
          <p:nvPr/>
        </p:nvSpPr>
        <p:spPr>
          <a:xfrm>
            <a:off x="6537960" y="2459736"/>
            <a:ext cx="4919472" cy="54864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.NET 8, ASP.NET Core, EF Core, SQL Server, ASP.NET Identity, JWT</a:t>
            </a:r>
            <a:endParaRPr lang="en-US" sz="1250"/>
          </a:p>
        </p:txBody>
      </p:sp>
      <p:sp>
        <p:nvSpPr>
          <p:cNvPr id="16" name="Text 14"/>
          <p:cNvSpPr txBox="1"/>
          <p:nvPr/>
        </p:nvSpPr>
        <p:spPr>
          <a:xfrm>
            <a:off x="6537960" y="3200400"/>
            <a:ext cx="4919472" cy="274320"/>
          </a:xfrm>
          <a:prstGeom prst="rect">
            <a:avLst/>
          </a:prstGeom>
          <a:noFill/>
          <a:ln/>
        </p:spPr>
        <p:txBody>
          <a:bodyPr wrap="square" lIns="0" tIns="0" rIns="0" bIns="0" rtlCol="0" anchor="ctr"/>
          <a:lstStyle/>
          <a:p>
            <a:pPr marL="0" indent="0">
              <a:buNone/>
            </a:pPr>
            <a:r>
              <a:rPr lang="en-US" sz="1250" b="1">
                <a:solidFill>
                  <a:srgbClr val="00C2A8"/>
                </a:solidFill>
                <a:latin typeface="Calibri" pitchFamily="34" charset="0"/>
                <a:ea typeface="Calibri" pitchFamily="34" charset="-122"/>
                <a:cs typeface="Calibri" pitchFamily="34" charset="-120"/>
              </a:rPr>
              <a:t>Frontend</a:t>
            </a:r>
            <a:endParaRPr lang="en-US" sz="1250"/>
          </a:p>
        </p:txBody>
      </p:sp>
      <p:sp>
        <p:nvSpPr>
          <p:cNvPr id="17" name="Text 15"/>
          <p:cNvSpPr txBox="1"/>
          <p:nvPr/>
        </p:nvSpPr>
        <p:spPr>
          <a:xfrm>
            <a:off x="6537960" y="3511296"/>
            <a:ext cx="4919472" cy="54864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React, TypeScript, React Router</a:t>
            </a:r>
            <a:endParaRPr lang="en-US" sz="1250"/>
          </a:p>
        </p:txBody>
      </p:sp>
      <p:sp>
        <p:nvSpPr>
          <p:cNvPr id="18" name="Text 16"/>
          <p:cNvSpPr txBox="1"/>
          <p:nvPr/>
        </p:nvSpPr>
        <p:spPr>
          <a:xfrm>
            <a:off x="6537960" y="4251960"/>
            <a:ext cx="4919472" cy="274320"/>
          </a:xfrm>
          <a:prstGeom prst="rect">
            <a:avLst/>
          </a:prstGeom>
          <a:noFill/>
          <a:ln/>
        </p:spPr>
        <p:txBody>
          <a:bodyPr wrap="square" lIns="0" tIns="0" rIns="0" bIns="0" rtlCol="0" anchor="ctr"/>
          <a:lstStyle/>
          <a:p>
            <a:pPr marL="0" indent="0">
              <a:buNone/>
            </a:pPr>
            <a:r>
              <a:rPr lang="en-US" sz="1250" b="1">
                <a:solidFill>
                  <a:srgbClr val="00C2A8"/>
                </a:solidFill>
                <a:latin typeface="Calibri" pitchFamily="34" charset="0"/>
                <a:ea typeface="Calibri" pitchFamily="34" charset="-122"/>
                <a:cs typeface="Calibri" pitchFamily="34" charset="-120"/>
              </a:rPr>
              <a:t>AI &amp; Processing</a:t>
            </a:r>
            <a:endParaRPr lang="en-US" sz="1250"/>
          </a:p>
        </p:txBody>
      </p:sp>
      <p:sp>
        <p:nvSpPr>
          <p:cNvPr id="19" name="Text 17"/>
          <p:cNvSpPr txBox="1"/>
          <p:nvPr/>
        </p:nvSpPr>
        <p:spPr>
          <a:xfrm>
            <a:off x="6537960" y="4562856"/>
            <a:ext cx="4919472" cy="54864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Google Gemini (Google.GenAI), PdfPig for PDF text extraction</a:t>
            </a:r>
            <a:endParaRPr lang="en-US" sz="1250"/>
          </a:p>
        </p:txBody>
      </p:sp>
      <p:sp>
        <p:nvSpPr>
          <p:cNvPr id="20" name="Text 18"/>
          <p:cNvSpPr txBox="1"/>
          <p:nvPr/>
        </p:nvSpPr>
        <p:spPr>
          <a:xfrm>
            <a:off x="6537960" y="5394960"/>
            <a:ext cx="4919472" cy="502920"/>
          </a:xfrm>
          <a:prstGeom prst="rect">
            <a:avLst/>
          </a:prstGeom>
          <a:noFill/>
          <a:ln/>
        </p:spPr>
        <p:txBody>
          <a:bodyPr wrap="square" lIns="0" tIns="0" rIns="0" bIns="0" rtlCol="0" anchor="ctr"/>
          <a:lstStyle/>
          <a:p>
            <a:pPr marL="0" indent="0">
              <a:buNone/>
            </a:pPr>
            <a:r>
              <a:rPr lang="en-US" sz="1150" i="1">
                <a:solidFill>
                  <a:srgbClr val="5B6478"/>
                </a:solidFill>
                <a:latin typeface="Calibri" pitchFamily="34" charset="0"/>
                <a:ea typeface="Calibri" pitchFamily="34" charset="-122"/>
                <a:cs typeface="Calibri" pitchFamily="34" charset="-120"/>
              </a:rPr>
              <a:t>The frontend talks to the backend only through REST APIs — no direct DB or AI access from the browser.</a:t>
            </a:r>
            <a:endParaRPr lang="en-US" sz="11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ARCHITECTURE</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System architecture, top to bottom</a:t>
            </a:r>
            <a:endParaRPr lang="en-US" sz="2700"/>
          </a:p>
        </p:txBody>
      </p:sp>
      <p:sp>
        <p:nvSpPr>
          <p:cNvPr id="4" name="Shape 2"/>
          <p:cNvSpPr/>
          <p:nvPr/>
        </p:nvSpPr>
        <p:spPr>
          <a:xfrm>
            <a:off x="4023360" y="1600200"/>
            <a:ext cx="4114800" cy="566928"/>
          </a:xfrm>
          <a:prstGeom prst="roundRect">
            <a:avLst>
              <a:gd name="adj" fmla="val 12903"/>
            </a:avLst>
          </a:prstGeom>
          <a:solidFill>
            <a:srgbClr val="1E2761"/>
          </a:solidFill>
          <a:ln/>
        </p:spPr>
      </p:sp>
      <p:sp>
        <p:nvSpPr>
          <p:cNvPr id="5" name="Text 3"/>
          <p:cNvSpPr txBox="1"/>
          <p:nvPr/>
        </p:nvSpPr>
        <p:spPr>
          <a:xfrm>
            <a:off x="4069080" y="1600200"/>
            <a:ext cx="4023360" cy="56692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React Frontend</a:t>
            </a:r>
            <a:endParaRPr lang="en-US" sz="1400"/>
          </a:p>
        </p:txBody>
      </p:sp>
      <p:sp>
        <p:nvSpPr>
          <p:cNvPr id="6" name="Shape 4"/>
          <p:cNvSpPr/>
          <p:nvPr/>
        </p:nvSpPr>
        <p:spPr>
          <a:xfrm>
            <a:off x="5961888" y="2203704"/>
            <a:ext cx="237744" cy="213970"/>
          </a:xfrm>
          <a:prstGeom prst="downArrow">
            <a:avLst/>
          </a:prstGeom>
          <a:solidFill>
            <a:srgbClr val="00C2A8"/>
          </a:solidFill>
          <a:ln/>
        </p:spPr>
      </p:sp>
      <p:sp>
        <p:nvSpPr>
          <p:cNvPr id="7" name="Shape 5"/>
          <p:cNvSpPr/>
          <p:nvPr/>
        </p:nvSpPr>
        <p:spPr>
          <a:xfrm>
            <a:off x="4023360" y="2423160"/>
            <a:ext cx="4114800" cy="566928"/>
          </a:xfrm>
          <a:prstGeom prst="roundRect">
            <a:avLst>
              <a:gd name="adj" fmla="val 12903"/>
            </a:avLst>
          </a:prstGeom>
          <a:solidFill>
            <a:srgbClr val="1E2761"/>
          </a:solidFill>
          <a:ln/>
        </p:spPr>
      </p:sp>
      <p:sp>
        <p:nvSpPr>
          <p:cNvPr id="8" name="Text 6"/>
          <p:cNvSpPr txBox="1"/>
          <p:nvPr/>
        </p:nvSpPr>
        <p:spPr>
          <a:xfrm>
            <a:off x="4069080" y="2423160"/>
            <a:ext cx="4023360" cy="56692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ASP.NET Core API</a:t>
            </a:r>
            <a:endParaRPr lang="en-US" sz="1400"/>
          </a:p>
        </p:txBody>
      </p:sp>
      <p:sp>
        <p:nvSpPr>
          <p:cNvPr id="9" name="Shape 7"/>
          <p:cNvSpPr/>
          <p:nvPr/>
        </p:nvSpPr>
        <p:spPr>
          <a:xfrm>
            <a:off x="5961888" y="3026664"/>
            <a:ext cx="237744" cy="213970"/>
          </a:xfrm>
          <a:prstGeom prst="downArrow">
            <a:avLst/>
          </a:prstGeom>
          <a:solidFill>
            <a:srgbClr val="00C2A8"/>
          </a:solidFill>
          <a:ln/>
        </p:spPr>
      </p:sp>
      <p:sp>
        <p:nvSpPr>
          <p:cNvPr id="10" name="Shape 8"/>
          <p:cNvSpPr/>
          <p:nvPr/>
        </p:nvSpPr>
        <p:spPr>
          <a:xfrm>
            <a:off x="4023360" y="3246120"/>
            <a:ext cx="4114800" cy="566928"/>
          </a:xfrm>
          <a:prstGeom prst="roundRect">
            <a:avLst>
              <a:gd name="adj" fmla="val 12903"/>
            </a:avLst>
          </a:prstGeom>
          <a:solidFill>
            <a:srgbClr val="2B3A8C"/>
          </a:solidFill>
          <a:ln/>
        </p:spPr>
      </p:sp>
      <p:sp>
        <p:nvSpPr>
          <p:cNvPr id="11" name="Text 9"/>
          <p:cNvSpPr txBox="1"/>
          <p:nvPr/>
        </p:nvSpPr>
        <p:spPr>
          <a:xfrm>
            <a:off x="4069080" y="3246120"/>
            <a:ext cx="4023360" cy="56692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Application Layer</a:t>
            </a:r>
            <a:endParaRPr lang="en-US" sz="1400"/>
          </a:p>
        </p:txBody>
      </p:sp>
      <p:sp>
        <p:nvSpPr>
          <p:cNvPr id="12" name="Shape 10"/>
          <p:cNvSpPr/>
          <p:nvPr/>
        </p:nvSpPr>
        <p:spPr>
          <a:xfrm>
            <a:off x="5961888" y="3849624"/>
            <a:ext cx="237744" cy="213970"/>
          </a:xfrm>
          <a:prstGeom prst="downArrow">
            <a:avLst/>
          </a:prstGeom>
          <a:solidFill>
            <a:srgbClr val="00C2A8"/>
          </a:solidFill>
          <a:ln/>
        </p:spPr>
      </p:sp>
      <p:sp>
        <p:nvSpPr>
          <p:cNvPr id="13" name="Shape 11"/>
          <p:cNvSpPr/>
          <p:nvPr/>
        </p:nvSpPr>
        <p:spPr>
          <a:xfrm>
            <a:off x="4023360" y="4069080"/>
            <a:ext cx="4114800" cy="566928"/>
          </a:xfrm>
          <a:prstGeom prst="roundRect">
            <a:avLst>
              <a:gd name="adj" fmla="val 12903"/>
            </a:avLst>
          </a:prstGeom>
          <a:solidFill>
            <a:srgbClr val="2B3A8C"/>
          </a:solidFill>
          <a:ln/>
        </p:spPr>
      </p:sp>
      <p:sp>
        <p:nvSpPr>
          <p:cNvPr id="14" name="Text 12"/>
          <p:cNvSpPr txBox="1"/>
          <p:nvPr/>
        </p:nvSpPr>
        <p:spPr>
          <a:xfrm>
            <a:off x="4069080" y="4069080"/>
            <a:ext cx="4023360" cy="56692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Infrastructure Layer</a:t>
            </a:r>
            <a:endParaRPr lang="en-US" sz="1400"/>
          </a:p>
        </p:txBody>
      </p:sp>
      <p:sp>
        <p:nvSpPr>
          <p:cNvPr id="15" name="Shape 13"/>
          <p:cNvSpPr/>
          <p:nvPr/>
        </p:nvSpPr>
        <p:spPr>
          <a:xfrm>
            <a:off x="6080760" y="4846320"/>
            <a:ext cx="0" cy="320040"/>
          </a:xfrm>
          <a:prstGeom prst="line">
            <a:avLst/>
          </a:prstGeom>
          <a:noFill/>
          <a:ln w="25400">
            <a:solidFill>
              <a:srgbClr val="00C2A8"/>
            </a:solidFill>
            <a:prstDash val="solid"/>
          </a:ln>
        </p:spPr>
      </p:sp>
      <p:sp>
        <p:nvSpPr>
          <p:cNvPr id="16" name="Shape 14"/>
          <p:cNvSpPr/>
          <p:nvPr/>
        </p:nvSpPr>
        <p:spPr>
          <a:xfrm>
            <a:off x="3246120" y="5166360"/>
            <a:ext cx="0" cy="256032"/>
          </a:xfrm>
          <a:prstGeom prst="line">
            <a:avLst/>
          </a:prstGeom>
          <a:noFill/>
          <a:ln w="25400">
            <a:solidFill>
              <a:srgbClr val="00C2A8"/>
            </a:solidFill>
            <a:prstDash val="solid"/>
          </a:ln>
        </p:spPr>
      </p:sp>
      <p:sp>
        <p:nvSpPr>
          <p:cNvPr id="17" name="Shape 15"/>
          <p:cNvSpPr/>
          <p:nvPr/>
        </p:nvSpPr>
        <p:spPr>
          <a:xfrm>
            <a:off x="2011680" y="5422392"/>
            <a:ext cx="2468880" cy="548640"/>
          </a:xfrm>
          <a:prstGeom prst="roundRect">
            <a:avLst>
              <a:gd name="adj" fmla="val 13333"/>
            </a:avLst>
          </a:prstGeom>
          <a:solidFill>
            <a:srgbClr val="00C2A8"/>
          </a:solidFill>
          <a:ln/>
        </p:spPr>
      </p:sp>
      <p:sp>
        <p:nvSpPr>
          <p:cNvPr id="18" name="Text 16"/>
          <p:cNvSpPr txBox="1"/>
          <p:nvPr/>
        </p:nvSpPr>
        <p:spPr>
          <a:xfrm>
            <a:off x="2057400" y="5422392"/>
            <a:ext cx="2377440" cy="548640"/>
          </a:xfrm>
          <a:prstGeom prst="rect">
            <a:avLst/>
          </a:prstGeom>
          <a:noFill/>
          <a:ln/>
        </p:spPr>
        <p:txBody>
          <a:bodyPr wrap="square" lIns="0" tIns="0" rIns="0" bIns="0" rtlCol="0" anchor="ctr"/>
          <a:lstStyle/>
          <a:p>
            <a:pPr marL="0" indent="0" algn="ctr">
              <a:buNone/>
            </a:pPr>
            <a:r>
              <a:rPr lang="en-US" sz="1250" b="1">
                <a:solidFill>
                  <a:srgbClr val="141B47"/>
                </a:solidFill>
                <a:latin typeface="Calibri" pitchFamily="34" charset="0"/>
                <a:ea typeface="Calibri" pitchFamily="34" charset="-122"/>
                <a:cs typeface="Calibri" pitchFamily="34" charset="-120"/>
              </a:rPr>
              <a:t>SQL Server</a:t>
            </a:r>
            <a:endParaRPr lang="en-US" sz="1250"/>
          </a:p>
        </p:txBody>
      </p:sp>
      <p:sp>
        <p:nvSpPr>
          <p:cNvPr id="19" name="Shape 17"/>
          <p:cNvSpPr/>
          <p:nvPr/>
        </p:nvSpPr>
        <p:spPr>
          <a:xfrm>
            <a:off x="6080760" y="5166360"/>
            <a:ext cx="0" cy="256032"/>
          </a:xfrm>
          <a:prstGeom prst="line">
            <a:avLst/>
          </a:prstGeom>
          <a:noFill/>
          <a:ln w="25400">
            <a:solidFill>
              <a:srgbClr val="00C2A8"/>
            </a:solidFill>
            <a:prstDash val="solid"/>
          </a:ln>
        </p:spPr>
      </p:sp>
      <p:sp>
        <p:nvSpPr>
          <p:cNvPr id="20" name="Shape 18"/>
          <p:cNvSpPr/>
          <p:nvPr/>
        </p:nvSpPr>
        <p:spPr>
          <a:xfrm>
            <a:off x="4846320" y="5422392"/>
            <a:ext cx="2468880" cy="548640"/>
          </a:xfrm>
          <a:prstGeom prst="roundRect">
            <a:avLst>
              <a:gd name="adj" fmla="val 13333"/>
            </a:avLst>
          </a:prstGeom>
          <a:solidFill>
            <a:srgbClr val="00C2A8"/>
          </a:solidFill>
          <a:ln/>
        </p:spPr>
      </p:sp>
      <p:sp>
        <p:nvSpPr>
          <p:cNvPr id="21" name="Text 19"/>
          <p:cNvSpPr txBox="1"/>
          <p:nvPr/>
        </p:nvSpPr>
        <p:spPr>
          <a:xfrm>
            <a:off x="4892040" y="5422392"/>
            <a:ext cx="2377440" cy="548640"/>
          </a:xfrm>
          <a:prstGeom prst="rect">
            <a:avLst/>
          </a:prstGeom>
          <a:noFill/>
          <a:ln/>
        </p:spPr>
        <p:txBody>
          <a:bodyPr wrap="square" lIns="0" tIns="0" rIns="0" bIns="0" rtlCol="0" anchor="ctr"/>
          <a:lstStyle/>
          <a:p>
            <a:pPr marL="0" indent="0" algn="ctr">
              <a:buNone/>
            </a:pPr>
            <a:r>
              <a:rPr lang="en-US" sz="1250" b="1">
                <a:solidFill>
                  <a:srgbClr val="141B47"/>
                </a:solidFill>
                <a:latin typeface="Calibri" pitchFamily="34" charset="0"/>
                <a:ea typeface="Calibri" pitchFamily="34" charset="-122"/>
                <a:cs typeface="Calibri" pitchFamily="34" charset="-120"/>
              </a:rPr>
              <a:t>Local File Storage</a:t>
            </a:r>
            <a:endParaRPr lang="en-US" sz="1250"/>
          </a:p>
        </p:txBody>
      </p:sp>
      <p:sp>
        <p:nvSpPr>
          <p:cNvPr id="22" name="Shape 20"/>
          <p:cNvSpPr/>
          <p:nvPr/>
        </p:nvSpPr>
        <p:spPr>
          <a:xfrm>
            <a:off x="8915400" y="5166360"/>
            <a:ext cx="0" cy="256032"/>
          </a:xfrm>
          <a:prstGeom prst="line">
            <a:avLst/>
          </a:prstGeom>
          <a:noFill/>
          <a:ln w="25400">
            <a:solidFill>
              <a:srgbClr val="00C2A8"/>
            </a:solidFill>
            <a:prstDash val="solid"/>
          </a:ln>
        </p:spPr>
      </p:sp>
      <p:sp>
        <p:nvSpPr>
          <p:cNvPr id="23" name="Shape 21"/>
          <p:cNvSpPr/>
          <p:nvPr/>
        </p:nvSpPr>
        <p:spPr>
          <a:xfrm>
            <a:off x="7680960" y="5422392"/>
            <a:ext cx="2468880" cy="548640"/>
          </a:xfrm>
          <a:prstGeom prst="roundRect">
            <a:avLst>
              <a:gd name="adj" fmla="val 13333"/>
            </a:avLst>
          </a:prstGeom>
          <a:solidFill>
            <a:srgbClr val="00C2A8"/>
          </a:solidFill>
          <a:ln/>
        </p:spPr>
      </p:sp>
      <p:sp>
        <p:nvSpPr>
          <p:cNvPr id="24" name="Text 22"/>
          <p:cNvSpPr txBox="1"/>
          <p:nvPr/>
        </p:nvSpPr>
        <p:spPr>
          <a:xfrm>
            <a:off x="7726680" y="5422392"/>
            <a:ext cx="2377440" cy="548640"/>
          </a:xfrm>
          <a:prstGeom prst="rect">
            <a:avLst/>
          </a:prstGeom>
          <a:noFill/>
          <a:ln/>
        </p:spPr>
        <p:txBody>
          <a:bodyPr wrap="square" lIns="0" tIns="0" rIns="0" bIns="0" rtlCol="0" anchor="ctr"/>
          <a:lstStyle/>
          <a:p>
            <a:pPr marL="0" indent="0" algn="ctr">
              <a:buNone/>
            </a:pPr>
            <a:r>
              <a:rPr lang="en-US" sz="1250" b="1">
                <a:solidFill>
                  <a:srgbClr val="141B47"/>
                </a:solidFill>
                <a:latin typeface="Calibri" pitchFamily="34" charset="0"/>
                <a:ea typeface="Calibri" pitchFamily="34" charset="-122"/>
                <a:cs typeface="Calibri" pitchFamily="34" charset="-120"/>
              </a:rPr>
              <a:t>Google Gemini</a:t>
            </a:r>
            <a:endParaRPr lang="en-US" sz="1250"/>
          </a:p>
        </p:txBody>
      </p:sp>
      <p:sp>
        <p:nvSpPr>
          <p:cNvPr id="25" name="Shape 23"/>
          <p:cNvSpPr/>
          <p:nvPr/>
        </p:nvSpPr>
        <p:spPr>
          <a:xfrm>
            <a:off x="3246120" y="5166360"/>
            <a:ext cx="5669280" cy="0"/>
          </a:xfrm>
          <a:prstGeom prst="line">
            <a:avLst/>
          </a:prstGeom>
          <a:noFill/>
          <a:ln w="25400">
            <a:solidFill>
              <a:srgbClr val="00C2A8"/>
            </a:solidFill>
            <a:prstDash val="solid"/>
          </a:ln>
        </p:spPr>
      </p:sp>
      <p:sp>
        <p:nvSpPr>
          <p:cNvPr id="26" name="Text 24"/>
          <p:cNvSpPr txBox="1"/>
          <p:nvPr/>
        </p:nvSpPr>
        <p:spPr>
          <a:xfrm>
            <a:off x="457200" y="6172200"/>
            <a:ext cx="11274552" cy="365760"/>
          </a:xfrm>
          <a:prstGeom prst="rect">
            <a:avLst/>
          </a:prstGeom>
          <a:noFill/>
          <a:ln/>
        </p:spPr>
        <p:txBody>
          <a:bodyPr wrap="square" lIns="0" tIns="0" rIns="0" bIns="0" rtlCol="0" anchor="ctr"/>
          <a:lstStyle/>
          <a:p>
            <a:pPr marL="0" indent="0" algn="ctr">
              <a:buNone/>
            </a:pPr>
            <a:r>
              <a:rPr lang="en-US" sz="1250" i="1">
                <a:solidFill>
                  <a:srgbClr val="5B6478"/>
                </a:solidFill>
                <a:latin typeface="Calibri" pitchFamily="34" charset="0"/>
                <a:ea typeface="Calibri" pitchFamily="34" charset="-122"/>
                <a:cs typeface="Calibri" pitchFamily="34" charset="-120"/>
              </a:rPr>
              <a:t>Three-layer .NET backend behind a REST API, consumed by a decoupled React + TypeScript frontend.</a:t>
            </a:r>
            <a:endParaRPr lang="en-US" sz="12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BACKEND</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Backend: three layers, one dependency direction</a:t>
            </a:r>
            <a:endParaRPr lang="en-US" sz="2700"/>
          </a:p>
        </p:txBody>
      </p:sp>
      <p:sp>
        <p:nvSpPr>
          <p:cNvPr id="4" name="Shape 2"/>
          <p:cNvSpPr/>
          <p:nvPr/>
        </p:nvSpPr>
        <p:spPr>
          <a:xfrm>
            <a:off x="457200" y="1600200"/>
            <a:ext cx="5029200" cy="1234440"/>
          </a:xfrm>
          <a:prstGeom prst="roundRect">
            <a:avLst>
              <a:gd name="adj" fmla="val 5926"/>
            </a:avLst>
          </a:prstGeom>
          <a:solidFill>
            <a:srgbClr val="1E2761"/>
          </a:solidFill>
          <a:ln/>
        </p:spPr>
      </p:sp>
      <p:sp>
        <p:nvSpPr>
          <p:cNvPr id="5" name="Text 3"/>
          <p:cNvSpPr txBox="1"/>
          <p:nvPr/>
        </p:nvSpPr>
        <p:spPr>
          <a:xfrm>
            <a:off x="731520" y="1764792"/>
            <a:ext cx="4480560" cy="365760"/>
          </a:xfrm>
          <a:prstGeom prst="rect">
            <a:avLst/>
          </a:prstGeom>
          <a:noFill/>
          <a:ln/>
        </p:spPr>
        <p:txBody>
          <a:bodyPr wrap="square" lIns="0" tIns="0" rIns="0" bIns="0" rtlCol="0" anchor="ctr"/>
          <a:lstStyle/>
          <a:p>
            <a:pPr marL="0" indent="0">
              <a:buNone/>
            </a:pPr>
            <a:r>
              <a:rPr lang="en-US" sz="1550" b="1">
                <a:solidFill>
                  <a:srgbClr val="FFFFFF"/>
                </a:solidFill>
                <a:latin typeface="Cambria" pitchFamily="34" charset="0"/>
                <a:ea typeface="Cambria" pitchFamily="34" charset="-122"/>
                <a:cs typeface="Cambria" pitchFamily="34" charset="-120"/>
              </a:rPr>
              <a:t>API Layer</a:t>
            </a:r>
            <a:endParaRPr lang="en-US" sz="1550"/>
          </a:p>
        </p:txBody>
      </p:sp>
      <p:sp>
        <p:nvSpPr>
          <p:cNvPr id="6" name="Text 4"/>
          <p:cNvSpPr txBox="1"/>
          <p:nvPr/>
        </p:nvSpPr>
        <p:spPr>
          <a:xfrm>
            <a:off x="731520" y="2194560"/>
            <a:ext cx="4480560" cy="457200"/>
          </a:xfrm>
          <a:prstGeom prst="rect">
            <a:avLst/>
          </a:prstGeom>
          <a:noFill/>
          <a:ln/>
        </p:spPr>
        <p:txBody>
          <a:bodyPr wrap="square" lIns="0" tIns="0" rIns="0" bIns="0" rtlCol="0" anchor="ctr"/>
          <a:lstStyle/>
          <a:p>
            <a:pPr marL="0" indent="0">
              <a:buNone/>
            </a:pPr>
            <a:r>
              <a:rPr lang="en-US" sz="1150">
                <a:solidFill>
                  <a:srgbClr val="D9E0F5"/>
                </a:solidFill>
                <a:latin typeface="Calibri" pitchFamily="34" charset="0"/>
                <a:ea typeface="Calibri" pitchFamily="34" charset="-122"/>
                <a:cs typeface="Calibri" pitchFamily="34" charset="-120"/>
              </a:rPr>
              <a:t>HTTP, auth, request/response</a:t>
            </a:r>
            <a:endParaRPr lang="en-US" sz="1150"/>
          </a:p>
        </p:txBody>
      </p:sp>
      <p:sp>
        <p:nvSpPr>
          <p:cNvPr id="7" name="Shape 5"/>
          <p:cNvSpPr/>
          <p:nvPr/>
        </p:nvSpPr>
        <p:spPr>
          <a:xfrm>
            <a:off x="2843784" y="2871216"/>
            <a:ext cx="256032" cy="230429"/>
          </a:xfrm>
          <a:prstGeom prst="downArrow">
            <a:avLst/>
          </a:prstGeom>
          <a:solidFill>
            <a:srgbClr val="00C2A8"/>
          </a:solidFill>
          <a:ln/>
        </p:spPr>
      </p:sp>
      <p:sp>
        <p:nvSpPr>
          <p:cNvPr id="8" name="Shape 6"/>
          <p:cNvSpPr/>
          <p:nvPr/>
        </p:nvSpPr>
        <p:spPr>
          <a:xfrm>
            <a:off x="457200" y="3154680"/>
            <a:ext cx="5029200" cy="1234440"/>
          </a:xfrm>
          <a:prstGeom prst="roundRect">
            <a:avLst>
              <a:gd name="adj" fmla="val 5926"/>
            </a:avLst>
          </a:prstGeom>
          <a:solidFill>
            <a:srgbClr val="2B3A8C"/>
          </a:solidFill>
          <a:ln/>
        </p:spPr>
      </p:sp>
      <p:sp>
        <p:nvSpPr>
          <p:cNvPr id="9" name="Text 7"/>
          <p:cNvSpPr txBox="1"/>
          <p:nvPr/>
        </p:nvSpPr>
        <p:spPr>
          <a:xfrm>
            <a:off x="731520" y="3319272"/>
            <a:ext cx="4480560" cy="365760"/>
          </a:xfrm>
          <a:prstGeom prst="rect">
            <a:avLst/>
          </a:prstGeom>
          <a:noFill/>
          <a:ln/>
        </p:spPr>
        <p:txBody>
          <a:bodyPr wrap="square" lIns="0" tIns="0" rIns="0" bIns="0" rtlCol="0" anchor="ctr"/>
          <a:lstStyle/>
          <a:p>
            <a:pPr marL="0" indent="0">
              <a:buNone/>
            </a:pPr>
            <a:r>
              <a:rPr lang="en-US" sz="1550" b="1">
                <a:solidFill>
                  <a:srgbClr val="FFFFFF"/>
                </a:solidFill>
                <a:latin typeface="Cambria" pitchFamily="34" charset="0"/>
                <a:ea typeface="Cambria" pitchFamily="34" charset="-122"/>
                <a:cs typeface="Cambria" pitchFamily="34" charset="-120"/>
              </a:rPr>
              <a:t>Application Layer</a:t>
            </a:r>
            <a:endParaRPr lang="en-US" sz="1550"/>
          </a:p>
        </p:txBody>
      </p:sp>
      <p:sp>
        <p:nvSpPr>
          <p:cNvPr id="10" name="Text 8"/>
          <p:cNvSpPr txBox="1"/>
          <p:nvPr/>
        </p:nvSpPr>
        <p:spPr>
          <a:xfrm>
            <a:off x="731520" y="3749040"/>
            <a:ext cx="4480560" cy="457200"/>
          </a:xfrm>
          <a:prstGeom prst="rect">
            <a:avLst/>
          </a:prstGeom>
          <a:noFill/>
          <a:ln/>
        </p:spPr>
        <p:txBody>
          <a:bodyPr wrap="square" lIns="0" tIns="0" rIns="0" bIns="0" rtlCol="0" anchor="ctr"/>
          <a:lstStyle/>
          <a:p>
            <a:pPr marL="0" indent="0">
              <a:buNone/>
            </a:pPr>
            <a:r>
              <a:rPr lang="en-US" sz="1150">
                <a:solidFill>
                  <a:srgbClr val="D9E0F5"/>
                </a:solidFill>
                <a:latin typeface="Calibri" pitchFamily="34" charset="0"/>
                <a:ea typeface="Calibri" pitchFamily="34" charset="-122"/>
                <a:cs typeface="Calibri" pitchFamily="34" charset="-120"/>
              </a:rPr>
              <a:t>DTOs, entities, service interfaces</a:t>
            </a:r>
            <a:endParaRPr lang="en-US" sz="1150"/>
          </a:p>
        </p:txBody>
      </p:sp>
      <p:sp>
        <p:nvSpPr>
          <p:cNvPr id="11" name="Shape 9"/>
          <p:cNvSpPr/>
          <p:nvPr/>
        </p:nvSpPr>
        <p:spPr>
          <a:xfrm>
            <a:off x="2843784" y="4425696"/>
            <a:ext cx="256032" cy="230429"/>
          </a:xfrm>
          <a:prstGeom prst="downArrow">
            <a:avLst/>
          </a:prstGeom>
          <a:solidFill>
            <a:srgbClr val="00C2A8"/>
          </a:solidFill>
          <a:ln/>
        </p:spPr>
      </p:sp>
      <p:sp>
        <p:nvSpPr>
          <p:cNvPr id="12" name="Shape 10"/>
          <p:cNvSpPr/>
          <p:nvPr/>
        </p:nvSpPr>
        <p:spPr>
          <a:xfrm>
            <a:off x="457200" y="4709160"/>
            <a:ext cx="5029200" cy="1234440"/>
          </a:xfrm>
          <a:prstGeom prst="roundRect">
            <a:avLst>
              <a:gd name="adj" fmla="val 5926"/>
            </a:avLst>
          </a:prstGeom>
          <a:solidFill>
            <a:srgbClr val="0E5C56"/>
          </a:solidFill>
          <a:ln/>
        </p:spPr>
      </p:sp>
      <p:sp>
        <p:nvSpPr>
          <p:cNvPr id="13" name="Text 11"/>
          <p:cNvSpPr txBox="1"/>
          <p:nvPr/>
        </p:nvSpPr>
        <p:spPr>
          <a:xfrm>
            <a:off x="731520" y="4873752"/>
            <a:ext cx="4480560" cy="365760"/>
          </a:xfrm>
          <a:prstGeom prst="rect">
            <a:avLst/>
          </a:prstGeom>
          <a:noFill/>
          <a:ln/>
        </p:spPr>
        <p:txBody>
          <a:bodyPr wrap="square" lIns="0" tIns="0" rIns="0" bIns="0" rtlCol="0" anchor="ctr"/>
          <a:lstStyle/>
          <a:p>
            <a:pPr marL="0" indent="0">
              <a:buNone/>
            </a:pPr>
            <a:r>
              <a:rPr lang="en-US" sz="1550" b="1">
                <a:solidFill>
                  <a:srgbClr val="FFFFFF"/>
                </a:solidFill>
                <a:latin typeface="Cambria" pitchFamily="34" charset="0"/>
                <a:ea typeface="Cambria" pitchFamily="34" charset="-122"/>
                <a:cs typeface="Cambria" pitchFamily="34" charset="-120"/>
              </a:rPr>
              <a:t>Infrastructure Layer</a:t>
            </a:r>
            <a:endParaRPr lang="en-US" sz="1550"/>
          </a:p>
        </p:txBody>
      </p:sp>
      <p:sp>
        <p:nvSpPr>
          <p:cNvPr id="14" name="Text 12"/>
          <p:cNvSpPr txBox="1"/>
          <p:nvPr/>
        </p:nvSpPr>
        <p:spPr>
          <a:xfrm>
            <a:off x="731520" y="5303520"/>
            <a:ext cx="4480560" cy="457200"/>
          </a:xfrm>
          <a:prstGeom prst="rect">
            <a:avLst/>
          </a:prstGeom>
          <a:noFill/>
          <a:ln/>
        </p:spPr>
        <p:txBody>
          <a:bodyPr wrap="square" lIns="0" tIns="0" rIns="0" bIns="0" rtlCol="0" anchor="ctr"/>
          <a:lstStyle/>
          <a:p>
            <a:pPr marL="0" indent="0">
              <a:buNone/>
            </a:pPr>
            <a:r>
              <a:rPr lang="en-US" sz="1150">
                <a:solidFill>
                  <a:srgbClr val="D9E0F5"/>
                </a:solidFill>
                <a:latin typeface="Calibri" pitchFamily="34" charset="0"/>
                <a:ea typeface="Calibri" pitchFamily="34" charset="-122"/>
                <a:cs typeface="Calibri" pitchFamily="34" charset="-120"/>
              </a:rPr>
              <a:t>EF Core, Identity, file storage, RAG</a:t>
            </a:r>
            <a:endParaRPr lang="en-US" sz="1150"/>
          </a:p>
        </p:txBody>
      </p:sp>
      <p:sp>
        <p:nvSpPr>
          <p:cNvPr id="15" name="Shape 13"/>
          <p:cNvSpPr/>
          <p:nvPr/>
        </p:nvSpPr>
        <p:spPr>
          <a:xfrm>
            <a:off x="5943600" y="1600200"/>
            <a:ext cx="5788152" cy="4572000"/>
          </a:xfrm>
          <a:prstGeom prst="roundRect">
            <a:avLst>
              <a:gd name="adj" fmla="val 1400"/>
            </a:avLst>
          </a:prstGeom>
          <a:solidFill>
            <a:srgbClr val="F4F7FC"/>
          </a:solidFill>
          <a:ln w="9525">
            <a:solidFill>
              <a:srgbClr val="D9DFEE"/>
            </a:solidFill>
            <a:prstDash val="solid"/>
          </a:ln>
        </p:spPr>
      </p:sp>
      <p:sp>
        <p:nvSpPr>
          <p:cNvPr id="16" name="Text 14"/>
          <p:cNvSpPr txBox="1"/>
          <p:nvPr/>
        </p:nvSpPr>
        <p:spPr>
          <a:xfrm>
            <a:off x="6217920" y="1783080"/>
            <a:ext cx="5239512" cy="320040"/>
          </a:xfrm>
          <a:prstGeom prst="rect">
            <a:avLst/>
          </a:prstGeom>
          <a:noFill/>
          <a:ln/>
        </p:spPr>
        <p:txBody>
          <a:bodyPr wrap="square" lIns="0" tIns="0" rIns="0" bIns="0" rtlCol="0" anchor="ctr"/>
          <a:lstStyle/>
          <a:p>
            <a:pPr marL="0" indent="0">
              <a:buNone/>
            </a:pPr>
            <a:r>
              <a:rPr lang="en-US" sz="1550" b="1">
                <a:solidFill>
                  <a:srgbClr val="1E2761"/>
                </a:solidFill>
                <a:latin typeface="Cambria" pitchFamily="34" charset="0"/>
                <a:ea typeface="Cambria" pitchFamily="34" charset="-122"/>
                <a:cs typeface="Cambria" pitchFamily="34" charset="-120"/>
              </a:rPr>
              <a:t>Why this shape?</a:t>
            </a:r>
            <a:endParaRPr lang="en-US" sz="1550"/>
          </a:p>
        </p:txBody>
      </p:sp>
      <p:sp>
        <p:nvSpPr>
          <p:cNvPr id="17" name="Text 15"/>
          <p:cNvSpPr txBox="1"/>
          <p:nvPr/>
        </p:nvSpPr>
        <p:spPr>
          <a:xfrm>
            <a:off x="6217920" y="2194560"/>
            <a:ext cx="5239512" cy="2560320"/>
          </a:xfrm>
          <a:prstGeom prst="rect">
            <a:avLst/>
          </a:prstGeom>
          <a:noFill/>
          <a:ln/>
        </p:spPr>
        <p:txBody>
          <a:bodyPr wrap="square" lIns="0" tIns="0" rIns="0" bIns="0" rtlCol="0" anchor="t"/>
          <a:lstStyle/>
          <a:p>
            <a:pPr marL="342900" indent="-342900">
              <a:spcAft>
                <a:spcPts val="1400"/>
              </a:spcAft>
              <a:buSzPct val="100000"/>
              <a:buChar char="•"/>
            </a:pPr>
            <a:r>
              <a:rPr lang="en-US" sz="1350">
                <a:solidFill>
                  <a:srgbClr val="1A2036"/>
                </a:solidFill>
                <a:latin typeface="Calibri" pitchFamily="34" charset="0"/>
                <a:ea typeface="Calibri" pitchFamily="34" charset="-122"/>
                <a:cs typeface="Calibri" pitchFamily="34" charset="-120"/>
              </a:rPr>
              <a:t>Interfaces (contracts) live in Application; real implementations live in Infrastructure</a:t>
            </a:r>
            <a:endParaRPr lang="en-US" sz="1350"/>
          </a:p>
          <a:p>
            <a:pPr marL="342900" indent="-342900">
              <a:spcAft>
                <a:spcPts val="1400"/>
              </a:spcAft>
              <a:buSzPct val="100000"/>
              <a:buChar char="•"/>
            </a:pPr>
            <a:r>
              <a:rPr lang="en-US" sz="1350">
                <a:solidFill>
                  <a:srgbClr val="1A2036"/>
                </a:solidFill>
                <a:latin typeface="Calibri" pitchFamily="34" charset="0"/>
                <a:ea typeface="Calibri" pitchFamily="34" charset="-122"/>
                <a:cs typeface="Calibri" pitchFamily="34" charset="-120"/>
              </a:rPr>
              <a:t>The API layer depends only on the interface — e.g. IDocumentService — never on a concrete class</a:t>
            </a:r>
            <a:endParaRPr lang="en-US" sz="1350"/>
          </a:p>
          <a:p>
            <a:pPr marL="342900" indent="-342900">
              <a:spcAft>
                <a:spcPts val="1400"/>
              </a:spcAft>
              <a:buSzPct val="100000"/>
              <a:buChar char="•"/>
            </a:pPr>
            <a:r>
              <a:rPr lang="en-US" sz="1350">
                <a:solidFill>
                  <a:srgbClr val="1A2036"/>
                </a:solidFill>
                <a:latin typeface="Calibri" pitchFamily="34" charset="0"/>
                <a:ea typeface="Calibri" pitchFamily="34" charset="-122"/>
                <a:cs typeface="Calibri" pitchFamily="34" charset="-120"/>
              </a:rPr>
              <a:t>This is Dependency Inversion + Dependency Injection: business rules stay testable in isolation, and implementations can change without touching the API</a:t>
            </a:r>
            <a:endParaRPr lang="en-US" sz="1350"/>
          </a:p>
        </p:txBody>
      </p:sp>
      <p:sp>
        <p:nvSpPr>
          <p:cNvPr id="18" name="Shape 16"/>
          <p:cNvSpPr/>
          <p:nvPr/>
        </p:nvSpPr>
        <p:spPr>
          <a:xfrm>
            <a:off x="6217920" y="4892040"/>
            <a:ext cx="5239512" cy="0"/>
          </a:xfrm>
          <a:prstGeom prst="line">
            <a:avLst/>
          </a:prstGeom>
          <a:noFill/>
          <a:ln w="12700">
            <a:solidFill>
              <a:srgbClr val="D9DFEE"/>
            </a:solidFill>
            <a:prstDash val="solid"/>
          </a:ln>
        </p:spPr>
      </p:sp>
      <p:sp>
        <p:nvSpPr>
          <p:cNvPr id="19" name="Text 17"/>
          <p:cNvSpPr txBox="1"/>
          <p:nvPr/>
        </p:nvSpPr>
        <p:spPr>
          <a:xfrm>
            <a:off x="6217920" y="5029200"/>
            <a:ext cx="5239512" cy="822960"/>
          </a:xfrm>
          <a:prstGeom prst="rect">
            <a:avLst/>
          </a:prstGeom>
          <a:noFill/>
          <a:ln/>
        </p:spPr>
        <p:txBody>
          <a:bodyPr wrap="square" lIns="0" tIns="0" rIns="0" bIns="0" rtlCol="0" anchor="ctr"/>
          <a:lstStyle/>
          <a:p>
            <a:pPr marL="0" indent="0">
              <a:buNone/>
            </a:pPr>
            <a:r>
              <a:rPr lang="en-US" sz="1150" i="1">
                <a:solidFill>
                  <a:srgbClr val="5B6478"/>
                </a:solidFill>
                <a:latin typeface="Calibri" pitchFamily="34" charset="0"/>
                <a:ea typeface="Calibri" pitchFamily="34" charset="-122"/>
                <a:cs typeface="Calibri" pitchFamily="34" charset="-120"/>
              </a:rPr>
              <a:t>Examples: IDocumentService, IRagService, IRetrievalService, IFileStorageService</a:t>
            </a:r>
            <a:endParaRPr lang="en-US" sz="11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FRONTEND</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Frontend architecture &amp; route protection</a:t>
            </a:r>
            <a:endParaRPr lang="en-US" sz="2700"/>
          </a:p>
        </p:txBody>
      </p:sp>
      <p:sp>
        <p:nvSpPr>
          <p:cNvPr id="4" name="Shape 2"/>
          <p:cNvSpPr/>
          <p:nvPr/>
        </p:nvSpPr>
        <p:spPr>
          <a:xfrm>
            <a:off x="457200" y="1645920"/>
            <a:ext cx="4297680" cy="502920"/>
          </a:xfrm>
          <a:prstGeom prst="roundRect">
            <a:avLst>
              <a:gd name="adj" fmla="val 14545"/>
            </a:avLst>
          </a:prstGeom>
          <a:solidFill>
            <a:srgbClr val="1E2761"/>
          </a:solidFill>
          <a:ln/>
        </p:spPr>
      </p:sp>
      <p:sp>
        <p:nvSpPr>
          <p:cNvPr id="5" name="Text 3"/>
          <p:cNvSpPr txBox="1"/>
          <p:nvPr/>
        </p:nvSpPr>
        <p:spPr>
          <a:xfrm>
            <a:off x="502920" y="1645920"/>
            <a:ext cx="420624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React + TypeScript</a:t>
            </a:r>
            <a:endParaRPr lang="en-US" sz="1250"/>
          </a:p>
        </p:txBody>
      </p:sp>
      <p:sp>
        <p:nvSpPr>
          <p:cNvPr id="6" name="Shape 4"/>
          <p:cNvSpPr/>
          <p:nvPr/>
        </p:nvSpPr>
        <p:spPr>
          <a:xfrm>
            <a:off x="2523744" y="2167128"/>
            <a:ext cx="164592" cy="148133"/>
          </a:xfrm>
          <a:prstGeom prst="downArrow">
            <a:avLst/>
          </a:prstGeom>
          <a:solidFill>
            <a:srgbClr val="00C2A8"/>
          </a:solidFill>
          <a:ln/>
        </p:spPr>
      </p:sp>
      <p:sp>
        <p:nvSpPr>
          <p:cNvPr id="7" name="Shape 5"/>
          <p:cNvSpPr/>
          <p:nvPr/>
        </p:nvSpPr>
        <p:spPr>
          <a:xfrm>
            <a:off x="457200" y="2331720"/>
            <a:ext cx="4297680" cy="502920"/>
          </a:xfrm>
          <a:prstGeom prst="roundRect">
            <a:avLst>
              <a:gd name="adj" fmla="val 14545"/>
            </a:avLst>
          </a:prstGeom>
          <a:solidFill>
            <a:srgbClr val="1E2761"/>
          </a:solidFill>
          <a:ln/>
        </p:spPr>
      </p:sp>
      <p:sp>
        <p:nvSpPr>
          <p:cNvPr id="8" name="Text 6"/>
          <p:cNvSpPr txBox="1"/>
          <p:nvPr/>
        </p:nvSpPr>
        <p:spPr>
          <a:xfrm>
            <a:off x="502920" y="2331720"/>
            <a:ext cx="420624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React Router → Pages</a:t>
            </a:r>
            <a:endParaRPr lang="en-US" sz="1250"/>
          </a:p>
        </p:txBody>
      </p:sp>
      <p:sp>
        <p:nvSpPr>
          <p:cNvPr id="9" name="Shape 7"/>
          <p:cNvSpPr/>
          <p:nvPr/>
        </p:nvSpPr>
        <p:spPr>
          <a:xfrm>
            <a:off x="2523744" y="2852928"/>
            <a:ext cx="164592" cy="148133"/>
          </a:xfrm>
          <a:prstGeom prst="downArrow">
            <a:avLst/>
          </a:prstGeom>
          <a:solidFill>
            <a:srgbClr val="00C2A8"/>
          </a:solidFill>
          <a:ln/>
        </p:spPr>
      </p:sp>
      <p:sp>
        <p:nvSpPr>
          <p:cNvPr id="10" name="Shape 8"/>
          <p:cNvSpPr/>
          <p:nvPr/>
        </p:nvSpPr>
        <p:spPr>
          <a:xfrm>
            <a:off x="457200" y="3017520"/>
            <a:ext cx="4297680" cy="502920"/>
          </a:xfrm>
          <a:prstGeom prst="roundRect">
            <a:avLst>
              <a:gd name="adj" fmla="val 14545"/>
            </a:avLst>
          </a:prstGeom>
          <a:solidFill>
            <a:srgbClr val="1E2761"/>
          </a:solidFill>
          <a:ln/>
        </p:spPr>
      </p:sp>
      <p:sp>
        <p:nvSpPr>
          <p:cNvPr id="11" name="Text 9"/>
          <p:cNvSpPr txBox="1"/>
          <p:nvPr/>
        </p:nvSpPr>
        <p:spPr>
          <a:xfrm>
            <a:off x="502920" y="3017520"/>
            <a:ext cx="420624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API Modules</a:t>
            </a:r>
            <a:endParaRPr lang="en-US" sz="1250"/>
          </a:p>
        </p:txBody>
      </p:sp>
      <p:sp>
        <p:nvSpPr>
          <p:cNvPr id="12" name="Shape 10"/>
          <p:cNvSpPr/>
          <p:nvPr/>
        </p:nvSpPr>
        <p:spPr>
          <a:xfrm>
            <a:off x="2523744" y="3538728"/>
            <a:ext cx="164592" cy="148133"/>
          </a:xfrm>
          <a:prstGeom prst="downArrow">
            <a:avLst/>
          </a:prstGeom>
          <a:solidFill>
            <a:srgbClr val="00C2A8"/>
          </a:solidFill>
          <a:ln/>
        </p:spPr>
      </p:sp>
      <p:sp>
        <p:nvSpPr>
          <p:cNvPr id="13" name="Shape 11"/>
          <p:cNvSpPr/>
          <p:nvPr/>
        </p:nvSpPr>
        <p:spPr>
          <a:xfrm>
            <a:off x="457200" y="3703320"/>
            <a:ext cx="4297680" cy="502920"/>
          </a:xfrm>
          <a:prstGeom prst="roundRect">
            <a:avLst>
              <a:gd name="adj" fmla="val 14545"/>
            </a:avLst>
          </a:prstGeom>
          <a:solidFill>
            <a:srgbClr val="1E2761"/>
          </a:solidFill>
          <a:ln/>
        </p:spPr>
      </p:sp>
      <p:sp>
        <p:nvSpPr>
          <p:cNvPr id="14" name="Text 12"/>
          <p:cNvSpPr txBox="1"/>
          <p:nvPr/>
        </p:nvSpPr>
        <p:spPr>
          <a:xfrm>
            <a:off x="502920" y="3703320"/>
            <a:ext cx="420624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HTTP Client → REST API</a:t>
            </a:r>
            <a:endParaRPr lang="en-US" sz="1250"/>
          </a:p>
        </p:txBody>
      </p:sp>
      <p:sp>
        <p:nvSpPr>
          <p:cNvPr id="15" name="Text 13"/>
          <p:cNvSpPr txBox="1"/>
          <p:nvPr/>
        </p:nvSpPr>
        <p:spPr>
          <a:xfrm>
            <a:off x="457200" y="4160520"/>
            <a:ext cx="4297680" cy="640080"/>
          </a:xfrm>
          <a:prstGeom prst="rect">
            <a:avLst/>
          </a:prstGeom>
          <a:noFill/>
          <a:ln/>
        </p:spPr>
        <p:txBody>
          <a:bodyPr wrap="square" lIns="0" tIns="0" rIns="0" bIns="0" rtlCol="0" anchor="ctr"/>
          <a:lstStyle/>
          <a:p>
            <a:pPr marL="0" indent="0">
              <a:buNone/>
            </a:pPr>
            <a:r>
              <a:rPr lang="en-US" sz="1150" i="1">
                <a:solidFill>
                  <a:srgbClr val="5B6478"/>
                </a:solidFill>
                <a:latin typeface="Calibri" pitchFamily="34" charset="0"/>
                <a:ea typeface="Calibri" pitchFamily="34" charset="-122"/>
                <a:cs typeface="Calibri" pitchFamily="34" charset="-120"/>
              </a:rPr>
              <a:t>Pages: Login, Register, Dashboard, Documents, Query, History, Admin Dashboard</a:t>
            </a:r>
            <a:endParaRPr lang="en-US" sz="1150"/>
          </a:p>
        </p:txBody>
      </p:sp>
      <p:sp>
        <p:nvSpPr>
          <p:cNvPr id="16" name="Shape 14"/>
          <p:cNvSpPr/>
          <p:nvPr/>
        </p:nvSpPr>
        <p:spPr>
          <a:xfrm>
            <a:off x="5074920" y="1645920"/>
            <a:ext cx="6656832" cy="4480560"/>
          </a:xfrm>
          <a:prstGeom prst="roundRect">
            <a:avLst>
              <a:gd name="adj" fmla="val 1429"/>
            </a:avLst>
          </a:prstGeom>
          <a:solidFill>
            <a:srgbClr val="F4F7FC"/>
          </a:solidFill>
          <a:ln w="9525">
            <a:solidFill>
              <a:srgbClr val="D9DFEE"/>
            </a:solidFill>
            <a:prstDash val="solid"/>
          </a:ln>
        </p:spPr>
      </p:sp>
      <p:sp>
        <p:nvSpPr>
          <p:cNvPr id="17" name="Text 15"/>
          <p:cNvSpPr txBox="1"/>
          <p:nvPr/>
        </p:nvSpPr>
        <p:spPr>
          <a:xfrm>
            <a:off x="5349240" y="1828800"/>
            <a:ext cx="6108192" cy="320040"/>
          </a:xfrm>
          <a:prstGeom prst="rect">
            <a:avLst/>
          </a:prstGeom>
          <a:noFill/>
          <a:ln/>
        </p:spPr>
        <p:txBody>
          <a:bodyPr wrap="square" lIns="0" tIns="0" rIns="0" bIns="0" rtlCol="0" anchor="ctr"/>
          <a:lstStyle/>
          <a:p>
            <a:pPr marL="0" indent="0">
              <a:buNone/>
            </a:pPr>
            <a:r>
              <a:rPr lang="en-US" sz="1550" b="1">
                <a:solidFill>
                  <a:srgbClr val="1E2761"/>
                </a:solidFill>
                <a:latin typeface="Cambria" pitchFamily="34" charset="0"/>
                <a:ea typeface="Cambria" pitchFamily="34" charset="-122"/>
                <a:cs typeface="Cambria" pitchFamily="34" charset="-120"/>
              </a:rPr>
              <a:t>Guarding routes</a:t>
            </a:r>
            <a:endParaRPr lang="en-US" sz="1550"/>
          </a:p>
        </p:txBody>
      </p:sp>
      <p:sp>
        <p:nvSpPr>
          <p:cNvPr id="18" name="Text 16"/>
          <p:cNvSpPr txBox="1"/>
          <p:nvPr/>
        </p:nvSpPr>
        <p:spPr>
          <a:xfrm>
            <a:off x="5349240" y="2331720"/>
            <a:ext cx="6108192" cy="457200"/>
          </a:xfrm>
          <a:prstGeom prst="rect">
            <a:avLst/>
          </a:prstGeom>
          <a:noFill/>
          <a:ln/>
        </p:spPr>
        <p:txBody>
          <a:bodyPr wrap="square" lIns="0" tIns="0" rIns="0" bIns="0" rtlCol="0" anchor="ctr"/>
          <a:lstStyle/>
          <a:p>
            <a:pPr marL="0" indent="0">
              <a:buNone/>
            </a:pPr>
            <a:r>
              <a:rPr lang="en-US" sz="1350" b="1">
                <a:solidFill>
                  <a:srgbClr val="1E2761"/>
                </a:solidFill>
                <a:latin typeface="Calibri" pitchFamily="34" charset="0"/>
                <a:ea typeface="Calibri" pitchFamily="34" charset="-122"/>
                <a:cs typeface="Calibri" pitchFamily="34" charset="-120"/>
              </a:rPr>
              <a:t>AuthContext  </a:t>
            </a:r>
            <a:r>
              <a:rPr lang="en-US" sz="1350">
                <a:solidFill>
                  <a:srgbClr val="1A2036"/>
                </a:solidFill>
                <a:latin typeface="Calibri" pitchFamily="34" charset="0"/>
                <a:ea typeface="Calibri" pitchFamily="34" charset="-122"/>
                <a:cs typeface="Calibri" pitchFamily="34" charset="-120"/>
              </a:rPr>
              <a:t>— holds the current user across the app</a:t>
            </a:r>
            <a:endParaRPr lang="en-US" sz="1350"/>
          </a:p>
        </p:txBody>
      </p:sp>
      <p:sp>
        <p:nvSpPr>
          <p:cNvPr id="19" name="Text 17"/>
          <p:cNvSpPr txBox="1"/>
          <p:nvPr/>
        </p:nvSpPr>
        <p:spPr>
          <a:xfrm>
            <a:off x="5349240" y="2898648"/>
            <a:ext cx="6108192" cy="457200"/>
          </a:xfrm>
          <a:prstGeom prst="rect">
            <a:avLst/>
          </a:prstGeom>
          <a:noFill/>
          <a:ln/>
        </p:spPr>
        <p:txBody>
          <a:bodyPr wrap="square" lIns="0" tIns="0" rIns="0" bIns="0" rtlCol="0" anchor="ctr"/>
          <a:lstStyle/>
          <a:p>
            <a:pPr marL="0" indent="0">
              <a:buNone/>
            </a:pPr>
            <a:r>
              <a:rPr lang="en-US" sz="1350" b="1">
                <a:solidFill>
                  <a:srgbClr val="1E2761"/>
                </a:solidFill>
                <a:latin typeface="Calibri" pitchFamily="34" charset="0"/>
                <a:ea typeface="Calibri" pitchFamily="34" charset="-122"/>
                <a:cs typeface="Calibri" pitchFamily="34" charset="-120"/>
              </a:rPr>
              <a:t>ProtectedRoute  </a:t>
            </a:r>
            <a:r>
              <a:rPr lang="en-US" sz="1350">
                <a:solidFill>
                  <a:srgbClr val="1A2036"/>
                </a:solidFill>
                <a:latin typeface="Calibri" pitchFamily="34" charset="0"/>
                <a:ea typeface="Calibri" pitchFamily="34" charset="-122"/>
                <a:cs typeface="Calibri" pitchFamily="34" charset="-120"/>
              </a:rPr>
              <a:t>— guards normal authenticated routes</a:t>
            </a:r>
            <a:endParaRPr lang="en-US" sz="1350"/>
          </a:p>
        </p:txBody>
      </p:sp>
      <p:sp>
        <p:nvSpPr>
          <p:cNvPr id="20" name="Text 18"/>
          <p:cNvSpPr txBox="1"/>
          <p:nvPr/>
        </p:nvSpPr>
        <p:spPr>
          <a:xfrm>
            <a:off x="5349240" y="3465576"/>
            <a:ext cx="6108192" cy="457200"/>
          </a:xfrm>
          <a:prstGeom prst="rect">
            <a:avLst/>
          </a:prstGeom>
          <a:noFill/>
          <a:ln/>
        </p:spPr>
        <p:txBody>
          <a:bodyPr wrap="square" lIns="0" tIns="0" rIns="0" bIns="0" rtlCol="0" anchor="ctr"/>
          <a:lstStyle/>
          <a:p>
            <a:pPr marL="0" indent="0">
              <a:buNone/>
            </a:pPr>
            <a:r>
              <a:rPr lang="en-US" sz="1350" b="1">
                <a:solidFill>
                  <a:srgbClr val="1E2761"/>
                </a:solidFill>
                <a:latin typeface="Calibri" pitchFamily="34" charset="0"/>
                <a:ea typeface="Calibri" pitchFamily="34" charset="-122"/>
                <a:cs typeface="Calibri" pitchFamily="34" charset="-120"/>
              </a:rPr>
              <a:t>AdminRoute  </a:t>
            </a:r>
            <a:r>
              <a:rPr lang="en-US" sz="1350">
                <a:solidFill>
                  <a:srgbClr val="1A2036"/>
                </a:solidFill>
                <a:latin typeface="Calibri" pitchFamily="34" charset="0"/>
                <a:ea typeface="Calibri" pitchFamily="34" charset="-122"/>
                <a:cs typeface="Calibri" pitchFamily="34" charset="-120"/>
              </a:rPr>
              <a:t>— checks login, then checks Admin role, before showing the admin dashboard</a:t>
            </a:r>
            <a:endParaRPr lang="en-US" sz="1350"/>
          </a:p>
        </p:txBody>
      </p:sp>
      <p:sp>
        <p:nvSpPr>
          <p:cNvPr id="21" name="Shape 19"/>
          <p:cNvSpPr/>
          <p:nvPr/>
        </p:nvSpPr>
        <p:spPr>
          <a:xfrm>
            <a:off x="5349240" y="4078224"/>
            <a:ext cx="6108192" cy="0"/>
          </a:xfrm>
          <a:prstGeom prst="line">
            <a:avLst/>
          </a:prstGeom>
          <a:noFill/>
          <a:ln w="12700">
            <a:solidFill>
              <a:srgbClr val="D9DFEE"/>
            </a:solidFill>
            <a:prstDash val="solid"/>
          </a:ln>
        </p:spPr>
      </p:sp>
      <p:sp>
        <p:nvSpPr>
          <p:cNvPr id="22" name="Text 20"/>
          <p:cNvSpPr txBox="1"/>
          <p:nvPr/>
        </p:nvSpPr>
        <p:spPr>
          <a:xfrm>
            <a:off x="5349240" y="4261104"/>
            <a:ext cx="6108192" cy="640080"/>
          </a:xfrm>
          <a:prstGeom prst="rect">
            <a:avLst/>
          </a:prstGeom>
          <a:noFill/>
          <a:ln/>
        </p:spPr>
        <p:txBody>
          <a:bodyPr wrap="square" lIns="0" tIns="0" rIns="0" bIns="0" rtlCol="0" anchor="ctr"/>
          <a:lstStyle/>
          <a:p>
            <a:pPr marL="0" indent="0">
              <a:buNone/>
            </a:pPr>
            <a:r>
              <a:rPr lang="en-US" sz="1300" i="1">
                <a:solidFill>
                  <a:srgbClr val="C0392B"/>
                </a:solidFill>
                <a:latin typeface="Calibri" pitchFamily="34" charset="0"/>
                <a:ea typeface="Calibri" pitchFamily="34" charset="-122"/>
                <a:cs typeface="Calibri" pitchFamily="34" charset="-120"/>
              </a:rPr>
              <a:t>Route protection improves UX — the real security boundary is backend authorization on every API call.</a:t>
            </a:r>
            <a:endParaRPr lang="en-US" sz="1300"/>
          </a:p>
        </p:txBody>
      </p:sp>
      <p:sp>
        <p:nvSpPr>
          <p:cNvPr id="23" name="Text 21"/>
          <p:cNvSpPr txBox="1"/>
          <p:nvPr/>
        </p:nvSpPr>
        <p:spPr>
          <a:xfrm>
            <a:off x="5349240" y="4901184"/>
            <a:ext cx="6108192" cy="548640"/>
          </a:xfrm>
          <a:prstGeom prst="rect">
            <a:avLst/>
          </a:prstGeom>
          <a:noFill/>
          <a:ln/>
        </p:spPr>
        <p:txBody>
          <a:bodyPr wrap="square" lIns="0" tIns="0" rIns="0" bIns="0" rtlCol="0" anchor="ctr"/>
          <a:lstStyle/>
          <a:p>
            <a:pPr marL="0" indent="0">
              <a:buNone/>
            </a:pPr>
            <a:r>
              <a:rPr lang="en-US" sz="1200">
                <a:solidFill>
                  <a:srgbClr val="5B6478"/>
                </a:solidFill>
                <a:latin typeface="Calibri" pitchFamily="34" charset="0"/>
                <a:ea typeface="Calibri" pitchFamily="34" charset="-122"/>
                <a:cs typeface="Calibri" pitchFamily="34" charset="-120"/>
              </a:rPr>
              <a:t>The frontend never talks to SQL Server or Gemini directly — every request goes through the REST API.</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SECURITY</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Authentication &amp; authorization</a:t>
            </a:r>
            <a:endParaRPr lang="en-US" sz="2700"/>
          </a:p>
        </p:txBody>
      </p:sp>
      <p:sp>
        <p:nvSpPr>
          <p:cNvPr id="4" name="Shape 2"/>
          <p:cNvSpPr/>
          <p:nvPr/>
        </p:nvSpPr>
        <p:spPr>
          <a:xfrm>
            <a:off x="457200" y="1600200"/>
            <a:ext cx="5486400" cy="502920"/>
          </a:xfrm>
          <a:prstGeom prst="roundRect">
            <a:avLst>
              <a:gd name="adj" fmla="val 14545"/>
            </a:avLst>
          </a:prstGeom>
          <a:solidFill>
            <a:srgbClr val="1E2761"/>
          </a:solidFill>
          <a:ln/>
        </p:spPr>
      </p:sp>
      <p:sp>
        <p:nvSpPr>
          <p:cNvPr id="5" name="Text 3"/>
          <p:cNvSpPr txBox="1"/>
          <p:nvPr/>
        </p:nvSpPr>
        <p:spPr>
          <a:xfrm>
            <a:off x="502920" y="1600200"/>
            <a:ext cx="539496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Login → Credentials validated</a:t>
            </a:r>
            <a:endParaRPr lang="en-US" sz="1250"/>
          </a:p>
        </p:txBody>
      </p:sp>
      <p:sp>
        <p:nvSpPr>
          <p:cNvPr id="6" name="Shape 4"/>
          <p:cNvSpPr/>
          <p:nvPr/>
        </p:nvSpPr>
        <p:spPr>
          <a:xfrm>
            <a:off x="3127248" y="2121408"/>
            <a:ext cx="146304" cy="131674"/>
          </a:xfrm>
          <a:prstGeom prst="downArrow">
            <a:avLst/>
          </a:prstGeom>
          <a:solidFill>
            <a:srgbClr val="00C2A8"/>
          </a:solidFill>
          <a:ln/>
        </p:spPr>
      </p:sp>
      <p:sp>
        <p:nvSpPr>
          <p:cNvPr id="7" name="Shape 5"/>
          <p:cNvSpPr/>
          <p:nvPr/>
        </p:nvSpPr>
        <p:spPr>
          <a:xfrm>
            <a:off x="457200" y="2267712"/>
            <a:ext cx="5486400" cy="502920"/>
          </a:xfrm>
          <a:prstGeom prst="roundRect">
            <a:avLst>
              <a:gd name="adj" fmla="val 14545"/>
            </a:avLst>
          </a:prstGeom>
          <a:solidFill>
            <a:srgbClr val="1E2761"/>
          </a:solidFill>
          <a:ln/>
        </p:spPr>
      </p:sp>
      <p:sp>
        <p:nvSpPr>
          <p:cNvPr id="8" name="Text 6"/>
          <p:cNvSpPr txBox="1"/>
          <p:nvPr/>
        </p:nvSpPr>
        <p:spPr>
          <a:xfrm>
            <a:off x="502920" y="2267712"/>
            <a:ext cx="539496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JWT issued → stored by frontend</a:t>
            </a:r>
            <a:endParaRPr lang="en-US" sz="1250"/>
          </a:p>
        </p:txBody>
      </p:sp>
      <p:sp>
        <p:nvSpPr>
          <p:cNvPr id="9" name="Shape 7"/>
          <p:cNvSpPr/>
          <p:nvPr/>
        </p:nvSpPr>
        <p:spPr>
          <a:xfrm>
            <a:off x="3127248" y="2788920"/>
            <a:ext cx="146304" cy="131674"/>
          </a:xfrm>
          <a:prstGeom prst="downArrow">
            <a:avLst/>
          </a:prstGeom>
          <a:solidFill>
            <a:srgbClr val="00C2A8"/>
          </a:solidFill>
          <a:ln/>
        </p:spPr>
      </p:sp>
      <p:sp>
        <p:nvSpPr>
          <p:cNvPr id="10" name="Shape 8"/>
          <p:cNvSpPr/>
          <p:nvPr/>
        </p:nvSpPr>
        <p:spPr>
          <a:xfrm>
            <a:off x="457200" y="2935224"/>
            <a:ext cx="5486400" cy="502920"/>
          </a:xfrm>
          <a:prstGeom prst="roundRect">
            <a:avLst>
              <a:gd name="adj" fmla="val 14545"/>
            </a:avLst>
          </a:prstGeom>
          <a:solidFill>
            <a:srgbClr val="1E2761"/>
          </a:solidFill>
          <a:ln/>
        </p:spPr>
      </p:sp>
      <p:sp>
        <p:nvSpPr>
          <p:cNvPr id="11" name="Text 9"/>
          <p:cNvSpPr txBox="1"/>
          <p:nvPr/>
        </p:nvSpPr>
        <p:spPr>
          <a:xfrm>
            <a:off x="502920" y="2935224"/>
            <a:ext cx="539496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Sent as Authorization header</a:t>
            </a:r>
            <a:endParaRPr lang="en-US" sz="1250"/>
          </a:p>
        </p:txBody>
      </p:sp>
      <p:sp>
        <p:nvSpPr>
          <p:cNvPr id="12" name="Shape 10"/>
          <p:cNvSpPr/>
          <p:nvPr/>
        </p:nvSpPr>
        <p:spPr>
          <a:xfrm>
            <a:off x="3127248" y="3456432"/>
            <a:ext cx="146304" cy="131674"/>
          </a:xfrm>
          <a:prstGeom prst="downArrow">
            <a:avLst/>
          </a:prstGeom>
          <a:solidFill>
            <a:srgbClr val="00C2A8"/>
          </a:solidFill>
          <a:ln/>
        </p:spPr>
      </p:sp>
      <p:sp>
        <p:nvSpPr>
          <p:cNvPr id="13" name="Shape 11"/>
          <p:cNvSpPr/>
          <p:nvPr/>
        </p:nvSpPr>
        <p:spPr>
          <a:xfrm>
            <a:off x="457200" y="3602736"/>
            <a:ext cx="5486400" cy="502920"/>
          </a:xfrm>
          <a:prstGeom prst="roundRect">
            <a:avLst>
              <a:gd name="adj" fmla="val 14545"/>
            </a:avLst>
          </a:prstGeom>
          <a:solidFill>
            <a:srgbClr val="1E2761"/>
          </a:solidFill>
          <a:ln/>
        </p:spPr>
      </p:sp>
      <p:sp>
        <p:nvSpPr>
          <p:cNvPr id="14" name="Text 12"/>
          <p:cNvSpPr txBox="1"/>
          <p:nvPr/>
        </p:nvSpPr>
        <p:spPr>
          <a:xfrm>
            <a:off x="502920" y="3602736"/>
            <a:ext cx="539496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ASP.NET Core reads Claims</a:t>
            </a:r>
            <a:endParaRPr lang="en-US" sz="1250"/>
          </a:p>
        </p:txBody>
      </p:sp>
      <p:sp>
        <p:nvSpPr>
          <p:cNvPr id="15" name="Shape 13"/>
          <p:cNvSpPr/>
          <p:nvPr/>
        </p:nvSpPr>
        <p:spPr>
          <a:xfrm>
            <a:off x="3127248" y="4123944"/>
            <a:ext cx="146304" cy="131674"/>
          </a:xfrm>
          <a:prstGeom prst="downArrow">
            <a:avLst/>
          </a:prstGeom>
          <a:solidFill>
            <a:srgbClr val="00C2A8"/>
          </a:solidFill>
          <a:ln/>
        </p:spPr>
      </p:sp>
      <p:sp>
        <p:nvSpPr>
          <p:cNvPr id="16" name="Shape 14"/>
          <p:cNvSpPr/>
          <p:nvPr/>
        </p:nvSpPr>
        <p:spPr>
          <a:xfrm>
            <a:off x="457200" y="4270248"/>
            <a:ext cx="5486400" cy="502920"/>
          </a:xfrm>
          <a:prstGeom prst="roundRect">
            <a:avLst>
              <a:gd name="adj" fmla="val 14545"/>
            </a:avLst>
          </a:prstGeom>
          <a:solidFill>
            <a:srgbClr val="1E2761"/>
          </a:solidFill>
          <a:ln/>
        </p:spPr>
      </p:sp>
      <p:sp>
        <p:nvSpPr>
          <p:cNvPr id="17" name="Text 15"/>
          <p:cNvSpPr txBox="1"/>
          <p:nvPr/>
        </p:nvSpPr>
        <p:spPr>
          <a:xfrm>
            <a:off x="502920" y="4270248"/>
            <a:ext cx="5394960" cy="50292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Role authorization</a:t>
            </a:r>
            <a:endParaRPr lang="en-US" sz="1250"/>
          </a:p>
        </p:txBody>
      </p:sp>
      <p:sp>
        <p:nvSpPr>
          <p:cNvPr id="18" name="Shape 16"/>
          <p:cNvSpPr/>
          <p:nvPr/>
        </p:nvSpPr>
        <p:spPr>
          <a:xfrm>
            <a:off x="6263640" y="1600200"/>
            <a:ext cx="5468112" cy="1417320"/>
          </a:xfrm>
          <a:prstGeom prst="roundRect">
            <a:avLst>
              <a:gd name="adj" fmla="val 4516"/>
            </a:avLst>
          </a:prstGeom>
          <a:solidFill>
            <a:srgbClr val="1E2761"/>
          </a:solidFill>
          <a:ln/>
        </p:spPr>
      </p:sp>
      <p:sp>
        <p:nvSpPr>
          <p:cNvPr id="19" name="Text 17"/>
          <p:cNvSpPr txBox="1"/>
          <p:nvPr/>
        </p:nvSpPr>
        <p:spPr>
          <a:xfrm>
            <a:off x="6537960" y="1737360"/>
            <a:ext cx="4919472" cy="1143000"/>
          </a:xfrm>
          <a:prstGeom prst="rect">
            <a:avLst/>
          </a:prstGeom>
          <a:noFill/>
          <a:ln/>
        </p:spPr>
        <p:txBody>
          <a:bodyPr wrap="square" lIns="0" tIns="0" rIns="0" bIns="0" rtlCol="0" anchor="ctr"/>
          <a:lstStyle/>
          <a:p>
            <a:pPr marL="0" indent="0">
              <a:lnSpc>
                <a:spcPct val="105000"/>
              </a:lnSpc>
              <a:buNone/>
            </a:pPr>
            <a:r>
              <a:rPr lang="en-US" sz="1350" b="1">
                <a:solidFill>
                  <a:srgbClr val="00C2A8"/>
                </a:solidFill>
                <a:latin typeface="Calibri" pitchFamily="34" charset="0"/>
                <a:ea typeface="Calibri" pitchFamily="34" charset="-122"/>
                <a:cs typeface="Calibri" pitchFamily="34" charset="-120"/>
              </a:rPr>
              <a:t>Authentication</a:t>
            </a:r>
            <a:endParaRPr lang="en-US" sz="1350"/>
          </a:p>
          <a:p>
            <a:pPr marL="0" indent="0">
              <a:lnSpc>
                <a:spcPct val="105000"/>
              </a:lnSpc>
              <a:buNone/>
            </a:pPr>
            <a:r>
              <a:rPr lang="en-US" sz="1350">
                <a:solidFill>
                  <a:srgbClr val="FFFFFF"/>
                </a:solidFill>
                <a:latin typeface="Calibri" pitchFamily="34" charset="0"/>
                <a:ea typeface="Calibri" pitchFamily="34" charset="-122"/>
                <a:cs typeface="Calibri" pitchFamily="34" charset="-120"/>
              </a:rPr>
              <a:t>Who are you?</a:t>
            </a:r>
            <a:endParaRPr lang="en-US" sz="1350"/>
          </a:p>
          <a:p>
            <a:pPr marL="0" indent="0">
              <a:lnSpc>
                <a:spcPct val="105000"/>
              </a:lnSpc>
              <a:buNone/>
            </a:pPr>
            <a:r>
              <a:rPr lang="en-US" sz="1350">
                <a:solidFill>
                  <a:srgbClr val="000000"/>
                </a:solidFill>
                <a:latin typeface="Calibri" pitchFamily="34" charset="0"/>
                <a:ea typeface="Calibri" pitchFamily="34" charset="-122"/>
                <a:cs typeface="Calibri" pitchFamily="34" charset="-120"/>
              </a:rPr>
              <a:t> </a:t>
            </a:r>
            <a:endParaRPr lang="en-US" sz="1350"/>
          </a:p>
          <a:p>
            <a:pPr marL="0" indent="0">
              <a:lnSpc>
                <a:spcPct val="105000"/>
              </a:lnSpc>
              <a:buNone/>
            </a:pPr>
            <a:r>
              <a:rPr lang="en-US" sz="1350" b="1">
                <a:solidFill>
                  <a:srgbClr val="00C2A8"/>
                </a:solidFill>
                <a:latin typeface="Calibri" pitchFamily="34" charset="0"/>
                <a:ea typeface="Calibri" pitchFamily="34" charset="-122"/>
                <a:cs typeface="Calibri" pitchFamily="34" charset="-120"/>
              </a:rPr>
              <a:t>Authorization</a:t>
            </a:r>
            <a:endParaRPr lang="en-US" sz="1350"/>
          </a:p>
          <a:p>
            <a:pPr marL="0" indent="0">
              <a:lnSpc>
                <a:spcPct val="105000"/>
              </a:lnSpc>
              <a:buNone/>
            </a:pPr>
            <a:r>
              <a:rPr lang="en-US" sz="1350">
                <a:solidFill>
                  <a:srgbClr val="FFFFFF"/>
                </a:solidFill>
                <a:latin typeface="Calibri" pitchFamily="34" charset="0"/>
                <a:ea typeface="Calibri" pitchFamily="34" charset="-122"/>
                <a:cs typeface="Calibri" pitchFamily="34" charset="-120"/>
              </a:rPr>
              <a:t>What are you allowed to do?</a:t>
            </a:r>
            <a:endParaRPr lang="en-US" sz="1350"/>
          </a:p>
        </p:txBody>
      </p:sp>
      <p:sp>
        <p:nvSpPr>
          <p:cNvPr id="20" name="Shape 18"/>
          <p:cNvSpPr/>
          <p:nvPr/>
        </p:nvSpPr>
        <p:spPr>
          <a:xfrm>
            <a:off x="6263640" y="3200400"/>
            <a:ext cx="5468112" cy="1051560"/>
          </a:xfrm>
          <a:prstGeom prst="roundRect">
            <a:avLst>
              <a:gd name="adj" fmla="val 6087"/>
            </a:avLst>
          </a:prstGeom>
          <a:solidFill>
            <a:srgbClr val="F4F7FC"/>
          </a:solidFill>
          <a:ln w="9525">
            <a:solidFill>
              <a:srgbClr val="D9DFEE"/>
            </a:solidFill>
            <a:prstDash val="solid"/>
          </a:ln>
        </p:spPr>
      </p:sp>
      <p:sp>
        <p:nvSpPr>
          <p:cNvPr id="21" name="Text 19"/>
          <p:cNvSpPr txBox="1"/>
          <p:nvPr/>
        </p:nvSpPr>
        <p:spPr>
          <a:xfrm>
            <a:off x="6537960" y="3310128"/>
            <a:ext cx="2743200" cy="274320"/>
          </a:xfrm>
          <a:prstGeom prst="rect">
            <a:avLst/>
          </a:prstGeom>
          <a:noFill/>
          <a:ln/>
        </p:spPr>
        <p:txBody>
          <a:bodyPr wrap="square" lIns="0" tIns="0" rIns="0" bIns="0" rtlCol="0" anchor="ctr"/>
          <a:lstStyle/>
          <a:p>
            <a:pPr marL="0" indent="0">
              <a:buNone/>
            </a:pPr>
            <a:r>
              <a:rPr lang="en-US" sz="1350" b="1">
                <a:solidFill>
                  <a:srgbClr val="1E2761"/>
                </a:solidFill>
                <a:latin typeface="Cambria" pitchFamily="34" charset="0"/>
                <a:ea typeface="Cambria" pitchFamily="34" charset="-122"/>
                <a:cs typeface="Cambria" pitchFamily="34" charset="-120"/>
              </a:rPr>
              <a:t>Roles</a:t>
            </a:r>
            <a:endParaRPr lang="en-US" sz="1350"/>
          </a:p>
        </p:txBody>
      </p:sp>
      <p:sp>
        <p:nvSpPr>
          <p:cNvPr id="22" name="Shape 20"/>
          <p:cNvSpPr/>
          <p:nvPr/>
        </p:nvSpPr>
        <p:spPr>
          <a:xfrm>
            <a:off x="6537960" y="3611880"/>
            <a:ext cx="2286000" cy="457200"/>
          </a:xfrm>
          <a:prstGeom prst="roundRect">
            <a:avLst>
              <a:gd name="adj" fmla="val 16000"/>
            </a:avLst>
          </a:prstGeom>
          <a:solidFill>
            <a:srgbClr val="3A2E6D"/>
          </a:solidFill>
          <a:ln/>
        </p:spPr>
      </p:sp>
      <p:sp>
        <p:nvSpPr>
          <p:cNvPr id="23" name="Text 21"/>
          <p:cNvSpPr txBox="1"/>
          <p:nvPr/>
        </p:nvSpPr>
        <p:spPr>
          <a:xfrm>
            <a:off x="6583680" y="3611880"/>
            <a:ext cx="2194560" cy="45720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Admin</a:t>
            </a:r>
            <a:endParaRPr lang="en-US" sz="1250"/>
          </a:p>
        </p:txBody>
      </p:sp>
      <p:sp>
        <p:nvSpPr>
          <p:cNvPr id="24" name="Shape 22"/>
          <p:cNvSpPr/>
          <p:nvPr/>
        </p:nvSpPr>
        <p:spPr>
          <a:xfrm>
            <a:off x="9006840" y="3611880"/>
            <a:ext cx="2724912" cy="457200"/>
          </a:xfrm>
          <a:prstGeom prst="roundRect">
            <a:avLst>
              <a:gd name="adj" fmla="val 16000"/>
            </a:avLst>
          </a:prstGeom>
          <a:solidFill>
            <a:srgbClr val="1E2761"/>
          </a:solidFill>
          <a:ln/>
        </p:spPr>
      </p:sp>
      <p:sp>
        <p:nvSpPr>
          <p:cNvPr id="25" name="Text 23"/>
          <p:cNvSpPr txBox="1"/>
          <p:nvPr/>
        </p:nvSpPr>
        <p:spPr>
          <a:xfrm>
            <a:off x="9052560" y="3611880"/>
            <a:ext cx="2633472" cy="457200"/>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DocumentUser</a:t>
            </a:r>
            <a:endParaRPr lang="en-US" sz="1250"/>
          </a:p>
        </p:txBody>
      </p:sp>
      <p:sp>
        <p:nvSpPr>
          <p:cNvPr id="26" name="Shape 24"/>
          <p:cNvSpPr/>
          <p:nvPr/>
        </p:nvSpPr>
        <p:spPr>
          <a:xfrm>
            <a:off x="6263640" y="4434840"/>
            <a:ext cx="5468112" cy="1737360"/>
          </a:xfrm>
          <a:prstGeom prst="roundRect">
            <a:avLst>
              <a:gd name="adj" fmla="val 3684"/>
            </a:avLst>
          </a:prstGeom>
          <a:solidFill>
            <a:srgbClr val="141B47"/>
          </a:solidFill>
          <a:ln/>
        </p:spPr>
      </p:sp>
      <p:sp>
        <p:nvSpPr>
          <p:cNvPr id="27" name="Text 25"/>
          <p:cNvSpPr txBox="1"/>
          <p:nvPr/>
        </p:nvSpPr>
        <p:spPr>
          <a:xfrm>
            <a:off x="6537960" y="4572000"/>
            <a:ext cx="4919472" cy="320040"/>
          </a:xfrm>
          <a:prstGeom prst="rect">
            <a:avLst/>
          </a:prstGeom>
          <a:noFill/>
          <a:ln/>
        </p:spPr>
        <p:txBody>
          <a:bodyPr wrap="square" lIns="0" tIns="0" rIns="0" bIns="0" rtlCol="0" anchor="ctr"/>
          <a:lstStyle/>
          <a:p>
            <a:pPr marL="0" indent="0">
              <a:buNone/>
            </a:pPr>
            <a:r>
              <a:rPr lang="en-US" sz="1200">
                <a:solidFill>
                  <a:srgbClr val="CADCFC"/>
                </a:solidFill>
                <a:latin typeface="Calibri" pitchFamily="34" charset="0"/>
                <a:ea typeface="Calibri" pitchFamily="34" charset="-122"/>
                <a:cs typeface="Calibri" pitchFamily="34" charset="-120"/>
              </a:rPr>
              <a:t>Admin controllers are protected server-side, on every request:</a:t>
            </a:r>
            <a:endParaRPr lang="en-US" sz="1200"/>
          </a:p>
        </p:txBody>
      </p:sp>
      <p:sp>
        <p:nvSpPr>
          <p:cNvPr id="28" name="Text 26"/>
          <p:cNvSpPr txBox="1"/>
          <p:nvPr/>
        </p:nvSpPr>
        <p:spPr>
          <a:xfrm>
            <a:off x="6537960" y="4892040"/>
            <a:ext cx="4919472" cy="457200"/>
          </a:xfrm>
          <a:prstGeom prst="rect">
            <a:avLst/>
          </a:prstGeom>
          <a:noFill/>
          <a:ln/>
        </p:spPr>
        <p:txBody>
          <a:bodyPr wrap="square" lIns="0" tIns="0" rIns="0" bIns="0" rtlCol="0" anchor="ctr"/>
          <a:lstStyle/>
          <a:p>
            <a:pPr marL="0" indent="0">
              <a:buNone/>
            </a:pPr>
            <a:r>
              <a:rPr lang="en-US" sz="1500" b="1">
                <a:solidFill>
                  <a:srgbClr val="00C2A8"/>
                </a:solidFill>
                <a:latin typeface="Courier New" pitchFamily="34" charset="0"/>
                <a:ea typeface="Courier New" pitchFamily="34" charset="-122"/>
                <a:cs typeface="Courier New" pitchFamily="34" charset="-120"/>
              </a:rPr>
              <a:t>[Authorize(Roles = "Admin")]</a:t>
            </a:r>
            <a:endParaRPr lang="en-US" sz="1500"/>
          </a:p>
        </p:txBody>
      </p:sp>
      <p:sp>
        <p:nvSpPr>
          <p:cNvPr id="29" name="Text 27"/>
          <p:cNvSpPr txBox="1"/>
          <p:nvPr/>
        </p:nvSpPr>
        <p:spPr>
          <a:xfrm>
            <a:off x="6537960" y="5349240"/>
            <a:ext cx="4919472" cy="548640"/>
          </a:xfrm>
          <a:prstGeom prst="rect">
            <a:avLst/>
          </a:prstGeom>
          <a:noFill/>
          <a:ln/>
        </p:spPr>
        <p:txBody>
          <a:bodyPr wrap="square" lIns="0" tIns="0" rIns="0" bIns="0" rtlCol="0" anchor="ctr"/>
          <a:lstStyle/>
          <a:p>
            <a:pPr marL="0" indent="0">
              <a:buNone/>
            </a:pPr>
            <a:r>
              <a:rPr lang="en-US" sz="1100" i="1">
                <a:solidFill>
                  <a:srgbClr val="AEB8DA"/>
                </a:solidFill>
                <a:latin typeface="Calibri" pitchFamily="34" charset="0"/>
                <a:ea typeface="Calibri" pitchFamily="34" charset="-122"/>
                <a:cs typeface="Calibri" pitchFamily="34" charset="-120"/>
              </a:rPr>
              <a:t>Independent of what the UI shows — this is the real gate.</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INGESTION</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Document ingestion: upload to ready</a:t>
            </a:r>
            <a:endParaRPr lang="en-US" sz="2700"/>
          </a:p>
        </p:txBody>
      </p:sp>
      <p:sp>
        <p:nvSpPr>
          <p:cNvPr id="4" name="Shape 2"/>
          <p:cNvSpPr/>
          <p:nvPr/>
        </p:nvSpPr>
        <p:spPr>
          <a:xfrm>
            <a:off x="457200" y="1600200"/>
            <a:ext cx="2108606" cy="685800"/>
          </a:xfrm>
          <a:prstGeom prst="roundRect">
            <a:avLst>
              <a:gd name="adj" fmla="val 10667"/>
            </a:avLst>
          </a:prstGeom>
          <a:solidFill>
            <a:srgbClr val="1E2761"/>
          </a:solidFill>
          <a:ln/>
        </p:spPr>
      </p:sp>
      <p:sp>
        <p:nvSpPr>
          <p:cNvPr id="5" name="Text 3"/>
          <p:cNvSpPr txBox="1"/>
          <p:nvPr/>
        </p:nvSpPr>
        <p:spPr>
          <a:xfrm>
            <a:off x="502920" y="1600200"/>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Upload</a:t>
            </a:r>
            <a:endParaRPr lang="en-US" sz="1200"/>
          </a:p>
        </p:txBody>
      </p:sp>
      <p:sp>
        <p:nvSpPr>
          <p:cNvPr id="6" name="Shape 4"/>
          <p:cNvSpPr/>
          <p:nvPr/>
        </p:nvSpPr>
        <p:spPr>
          <a:xfrm>
            <a:off x="2574950" y="1865376"/>
            <a:ext cx="155448" cy="124358"/>
          </a:xfrm>
          <a:prstGeom prst="rightArrow">
            <a:avLst/>
          </a:prstGeom>
          <a:solidFill>
            <a:srgbClr val="00C2A8"/>
          </a:solidFill>
          <a:ln/>
        </p:spPr>
      </p:sp>
      <p:sp>
        <p:nvSpPr>
          <p:cNvPr id="7" name="Shape 5"/>
          <p:cNvSpPr/>
          <p:nvPr/>
        </p:nvSpPr>
        <p:spPr>
          <a:xfrm>
            <a:off x="2748686" y="1600200"/>
            <a:ext cx="2108606" cy="685800"/>
          </a:xfrm>
          <a:prstGeom prst="roundRect">
            <a:avLst>
              <a:gd name="adj" fmla="val 10667"/>
            </a:avLst>
          </a:prstGeom>
          <a:solidFill>
            <a:srgbClr val="1E2761"/>
          </a:solidFill>
          <a:ln/>
        </p:spPr>
      </p:sp>
      <p:sp>
        <p:nvSpPr>
          <p:cNvPr id="8" name="Text 6"/>
          <p:cNvSpPr txBox="1"/>
          <p:nvPr/>
        </p:nvSpPr>
        <p:spPr>
          <a:xfrm>
            <a:off x="2794406" y="1600200"/>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Validate</a:t>
            </a:r>
            <a:endParaRPr lang="en-US" sz="1200"/>
          </a:p>
        </p:txBody>
      </p:sp>
      <p:sp>
        <p:nvSpPr>
          <p:cNvPr id="9" name="Shape 7"/>
          <p:cNvSpPr/>
          <p:nvPr/>
        </p:nvSpPr>
        <p:spPr>
          <a:xfrm>
            <a:off x="4866437" y="1865376"/>
            <a:ext cx="155448" cy="124358"/>
          </a:xfrm>
          <a:prstGeom prst="rightArrow">
            <a:avLst/>
          </a:prstGeom>
          <a:solidFill>
            <a:srgbClr val="00C2A8"/>
          </a:solidFill>
          <a:ln/>
        </p:spPr>
      </p:sp>
      <p:sp>
        <p:nvSpPr>
          <p:cNvPr id="10" name="Shape 8"/>
          <p:cNvSpPr/>
          <p:nvPr/>
        </p:nvSpPr>
        <p:spPr>
          <a:xfrm>
            <a:off x="5040173" y="1600200"/>
            <a:ext cx="2108606" cy="685800"/>
          </a:xfrm>
          <a:prstGeom prst="roundRect">
            <a:avLst>
              <a:gd name="adj" fmla="val 10667"/>
            </a:avLst>
          </a:prstGeom>
          <a:solidFill>
            <a:srgbClr val="1E2761"/>
          </a:solidFill>
          <a:ln/>
        </p:spPr>
      </p:sp>
      <p:sp>
        <p:nvSpPr>
          <p:cNvPr id="11" name="Text 9"/>
          <p:cNvSpPr txBox="1"/>
          <p:nvPr/>
        </p:nvSpPr>
        <p:spPr>
          <a:xfrm>
            <a:off x="5085893" y="1600200"/>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Store</a:t>
            </a:r>
            <a:endParaRPr lang="en-US" sz="1200"/>
          </a:p>
        </p:txBody>
      </p:sp>
      <p:sp>
        <p:nvSpPr>
          <p:cNvPr id="12" name="Shape 10"/>
          <p:cNvSpPr/>
          <p:nvPr/>
        </p:nvSpPr>
        <p:spPr>
          <a:xfrm>
            <a:off x="7157923" y="1865376"/>
            <a:ext cx="155448" cy="124358"/>
          </a:xfrm>
          <a:prstGeom prst="rightArrow">
            <a:avLst/>
          </a:prstGeom>
          <a:solidFill>
            <a:srgbClr val="00C2A8"/>
          </a:solidFill>
          <a:ln/>
        </p:spPr>
      </p:sp>
      <p:sp>
        <p:nvSpPr>
          <p:cNvPr id="13" name="Shape 11"/>
          <p:cNvSpPr/>
          <p:nvPr/>
        </p:nvSpPr>
        <p:spPr>
          <a:xfrm>
            <a:off x="7331659" y="1600200"/>
            <a:ext cx="2108606" cy="685800"/>
          </a:xfrm>
          <a:prstGeom prst="roundRect">
            <a:avLst>
              <a:gd name="adj" fmla="val 10667"/>
            </a:avLst>
          </a:prstGeom>
          <a:solidFill>
            <a:srgbClr val="1E2761"/>
          </a:solidFill>
          <a:ln/>
        </p:spPr>
      </p:sp>
      <p:sp>
        <p:nvSpPr>
          <p:cNvPr id="14" name="Text 12"/>
          <p:cNvSpPr txBox="1"/>
          <p:nvPr/>
        </p:nvSpPr>
        <p:spPr>
          <a:xfrm>
            <a:off x="7377379" y="1600200"/>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DB Record</a:t>
            </a:r>
            <a:endParaRPr lang="en-US" sz="1200"/>
          </a:p>
        </p:txBody>
      </p:sp>
      <p:sp>
        <p:nvSpPr>
          <p:cNvPr id="15" name="Shape 13"/>
          <p:cNvSpPr/>
          <p:nvPr/>
        </p:nvSpPr>
        <p:spPr>
          <a:xfrm>
            <a:off x="9449410" y="1865376"/>
            <a:ext cx="155448" cy="124358"/>
          </a:xfrm>
          <a:prstGeom prst="rightArrow">
            <a:avLst/>
          </a:prstGeom>
          <a:solidFill>
            <a:srgbClr val="00C2A8"/>
          </a:solidFill>
          <a:ln/>
        </p:spPr>
      </p:sp>
      <p:sp>
        <p:nvSpPr>
          <p:cNvPr id="16" name="Shape 14"/>
          <p:cNvSpPr/>
          <p:nvPr/>
        </p:nvSpPr>
        <p:spPr>
          <a:xfrm>
            <a:off x="9623146" y="1600200"/>
            <a:ext cx="2108606" cy="685800"/>
          </a:xfrm>
          <a:prstGeom prst="roundRect">
            <a:avLst>
              <a:gd name="adj" fmla="val 10667"/>
            </a:avLst>
          </a:prstGeom>
          <a:solidFill>
            <a:srgbClr val="1E2761"/>
          </a:solidFill>
          <a:ln/>
        </p:spPr>
      </p:sp>
      <p:sp>
        <p:nvSpPr>
          <p:cNvPr id="17" name="Text 15"/>
          <p:cNvSpPr txBox="1"/>
          <p:nvPr/>
        </p:nvSpPr>
        <p:spPr>
          <a:xfrm>
            <a:off x="9668866" y="1600200"/>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Queue</a:t>
            </a:r>
            <a:endParaRPr lang="en-US" sz="1200"/>
          </a:p>
        </p:txBody>
      </p:sp>
      <p:sp>
        <p:nvSpPr>
          <p:cNvPr id="18" name="Shape 16"/>
          <p:cNvSpPr/>
          <p:nvPr/>
        </p:nvSpPr>
        <p:spPr>
          <a:xfrm>
            <a:off x="1383487" y="2313432"/>
            <a:ext cx="256032" cy="230429"/>
          </a:xfrm>
          <a:prstGeom prst="downArrow">
            <a:avLst/>
          </a:prstGeom>
          <a:solidFill>
            <a:srgbClr val="00C2A8"/>
          </a:solidFill>
          <a:ln/>
        </p:spPr>
      </p:sp>
      <p:sp>
        <p:nvSpPr>
          <p:cNvPr id="19" name="Shape 17"/>
          <p:cNvSpPr/>
          <p:nvPr/>
        </p:nvSpPr>
        <p:spPr>
          <a:xfrm>
            <a:off x="457200" y="2706624"/>
            <a:ext cx="2108606" cy="685800"/>
          </a:xfrm>
          <a:prstGeom prst="roundRect">
            <a:avLst>
              <a:gd name="adj" fmla="val 10667"/>
            </a:avLst>
          </a:prstGeom>
          <a:solidFill>
            <a:srgbClr val="1E2761"/>
          </a:solidFill>
          <a:ln/>
        </p:spPr>
      </p:sp>
      <p:sp>
        <p:nvSpPr>
          <p:cNvPr id="20" name="Text 18"/>
          <p:cNvSpPr txBox="1"/>
          <p:nvPr/>
        </p:nvSpPr>
        <p:spPr>
          <a:xfrm>
            <a:off x="502920" y="2706624"/>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Process</a:t>
            </a:r>
            <a:endParaRPr lang="en-US" sz="1200"/>
          </a:p>
        </p:txBody>
      </p:sp>
      <p:sp>
        <p:nvSpPr>
          <p:cNvPr id="21" name="Shape 19"/>
          <p:cNvSpPr/>
          <p:nvPr/>
        </p:nvSpPr>
        <p:spPr>
          <a:xfrm>
            <a:off x="2574950" y="2971800"/>
            <a:ext cx="155448" cy="124358"/>
          </a:xfrm>
          <a:prstGeom prst="rightArrow">
            <a:avLst/>
          </a:prstGeom>
          <a:solidFill>
            <a:srgbClr val="00C2A8"/>
          </a:solidFill>
          <a:ln/>
        </p:spPr>
      </p:sp>
      <p:sp>
        <p:nvSpPr>
          <p:cNvPr id="22" name="Shape 20"/>
          <p:cNvSpPr/>
          <p:nvPr/>
        </p:nvSpPr>
        <p:spPr>
          <a:xfrm>
            <a:off x="2748686" y="2706624"/>
            <a:ext cx="2108606" cy="685800"/>
          </a:xfrm>
          <a:prstGeom prst="roundRect">
            <a:avLst>
              <a:gd name="adj" fmla="val 10667"/>
            </a:avLst>
          </a:prstGeom>
          <a:solidFill>
            <a:srgbClr val="1E2761"/>
          </a:solidFill>
          <a:ln/>
        </p:spPr>
      </p:sp>
      <p:sp>
        <p:nvSpPr>
          <p:cNvPr id="23" name="Text 21"/>
          <p:cNvSpPr txBox="1"/>
          <p:nvPr/>
        </p:nvSpPr>
        <p:spPr>
          <a:xfrm>
            <a:off x="2794406" y="2706624"/>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Extract Text</a:t>
            </a:r>
            <a:endParaRPr lang="en-US" sz="1200"/>
          </a:p>
        </p:txBody>
      </p:sp>
      <p:sp>
        <p:nvSpPr>
          <p:cNvPr id="24" name="Shape 22"/>
          <p:cNvSpPr/>
          <p:nvPr/>
        </p:nvSpPr>
        <p:spPr>
          <a:xfrm>
            <a:off x="4866437" y="2971800"/>
            <a:ext cx="155448" cy="124358"/>
          </a:xfrm>
          <a:prstGeom prst="rightArrow">
            <a:avLst/>
          </a:prstGeom>
          <a:solidFill>
            <a:srgbClr val="00C2A8"/>
          </a:solidFill>
          <a:ln/>
        </p:spPr>
      </p:sp>
      <p:sp>
        <p:nvSpPr>
          <p:cNvPr id="25" name="Shape 23"/>
          <p:cNvSpPr/>
          <p:nvPr/>
        </p:nvSpPr>
        <p:spPr>
          <a:xfrm>
            <a:off x="5040173" y="2706624"/>
            <a:ext cx="2108606" cy="685800"/>
          </a:xfrm>
          <a:prstGeom prst="roundRect">
            <a:avLst>
              <a:gd name="adj" fmla="val 10667"/>
            </a:avLst>
          </a:prstGeom>
          <a:solidFill>
            <a:srgbClr val="1E2761"/>
          </a:solidFill>
          <a:ln/>
        </p:spPr>
      </p:sp>
      <p:sp>
        <p:nvSpPr>
          <p:cNvPr id="26" name="Text 24"/>
          <p:cNvSpPr txBox="1"/>
          <p:nvPr/>
        </p:nvSpPr>
        <p:spPr>
          <a:xfrm>
            <a:off x="5085893" y="2706624"/>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Chunk</a:t>
            </a:r>
            <a:endParaRPr lang="en-US" sz="1200"/>
          </a:p>
        </p:txBody>
      </p:sp>
      <p:sp>
        <p:nvSpPr>
          <p:cNvPr id="27" name="Shape 25"/>
          <p:cNvSpPr/>
          <p:nvPr/>
        </p:nvSpPr>
        <p:spPr>
          <a:xfrm>
            <a:off x="7157923" y="2971800"/>
            <a:ext cx="155448" cy="124358"/>
          </a:xfrm>
          <a:prstGeom prst="rightArrow">
            <a:avLst/>
          </a:prstGeom>
          <a:solidFill>
            <a:srgbClr val="00C2A8"/>
          </a:solidFill>
          <a:ln/>
        </p:spPr>
      </p:sp>
      <p:sp>
        <p:nvSpPr>
          <p:cNvPr id="28" name="Shape 26"/>
          <p:cNvSpPr/>
          <p:nvPr/>
        </p:nvSpPr>
        <p:spPr>
          <a:xfrm>
            <a:off x="7331659" y="2706624"/>
            <a:ext cx="2108606" cy="685800"/>
          </a:xfrm>
          <a:prstGeom prst="roundRect">
            <a:avLst>
              <a:gd name="adj" fmla="val 10667"/>
            </a:avLst>
          </a:prstGeom>
          <a:solidFill>
            <a:srgbClr val="1E2761"/>
          </a:solidFill>
          <a:ln/>
        </p:spPr>
      </p:sp>
      <p:sp>
        <p:nvSpPr>
          <p:cNvPr id="29" name="Text 27"/>
          <p:cNvSpPr txBox="1"/>
          <p:nvPr/>
        </p:nvSpPr>
        <p:spPr>
          <a:xfrm>
            <a:off x="7377379" y="2706624"/>
            <a:ext cx="2017166"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Embed</a:t>
            </a:r>
            <a:endParaRPr lang="en-US" sz="1200"/>
          </a:p>
        </p:txBody>
      </p:sp>
      <p:sp>
        <p:nvSpPr>
          <p:cNvPr id="30" name="Shape 28"/>
          <p:cNvSpPr/>
          <p:nvPr/>
        </p:nvSpPr>
        <p:spPr>
          <a:xfrm>
            <a:off x="9449410" y="2971800"/>
            <a:ext cx="155448" cy="124358"/>
          </a:xfrm>
          <a:prstGeom prst="rightArrow">
            <a:avLst/>
          </a:prstGeom>
          <a:solidFill>
            <a:srgbClr val="00C2A8"/>
          </a:solidFill>
          <a:ln/>
        </p:spPr>
      </p:sp>
      <p:sp>
        <p:nvSpPr>
          <p:cNvPr id="31" name="Shape 29"/>
          <p:cNvSpPr/>
          <p:nvPr/>
        </p:nvSpPr>
        <p:spPr>
          <a:xfrm>
            <a:off x="9623146" y="2706624"/>
            <a:ext cx="2108606" cy="685800"/>
          </a:xfrm>
          <a:prstGeom prst="roundRect">
            <a:avLst>
              <a:gd name="adj" fmla="val 10667"/>
            </a:avLst>
          </a:prstGeom>
          <a:solidFill>
            <a:srgbClr val="00C2A8"/>
          </a:solidFill>
          <a:ln/>
        </p:spPr>
      </p:sp>
      <p:sp>
        <p:nvSpPr>
          <p:cNvPr id="32" name="Text 30"/>
          <p:cNvSpPr txBox="1"/>
          <p:nvPr/>
        </p:nvSpPr>
        <p:spPr>
          <a:xfrm>
            <a:off x="9668866" y="2706624"/>
            <a:ext cx="2017166" cy="685800"/>
          </a:xfrm>
          <a:prstGeom prst="rect">
            <a:avLst/>
          </a:prstGeom>
          <a:noFill/>
          <a:ln/>
        </p:spPr>
        <p:txBody>
          <a:bodyPr wrap="square" lIns="0" tIns="0" rIns="0" bIns="0" rtlCol="0" anchor="ctr"/>
          <a:lstStyle/>
          <a:p>
            <a:pPr marL="0" indent="0" algn="ctr">
              <a:buNone/>
            </a:pPr>
            <a:r>
              <a:rPr lang="en-US" sz="1200" b="1">
                <a:solidFill>
                  <a:srgbClr val="141B47"/>
                </a:solidFill>
                <a:latin typeface="Calibri" pitchFamily="34" charset="0"/>
                <a:ea typeface="Calibri" pitchFamily="34" charset="-122"/>
                <a:cs typeface="Calibri" pitchFamily="34" charset="-120"/>
              </a:rPr>
              <a:t>Ready</a:t>
            </a:r>
            <a:endParaRPr lang="en-US" sz="1200"/>
          </a:p>
        </p:txBody>
      </p:sp>
      <p:sp>
        <p:nvSpPr>
          <p:cNvPr id="33" name="Text 31"/>
          <p:cNvSpPr txBox="1"/>
          <p:nvPr/>
        </p:nvSpPr>
        <p:spPr>
          <a:xfrm>
            <a:off x="457200" y="3611880"/>
            <a:ext cx="11274552" cy="365760"/>
          </a:xfrm>
          <a:prstGeom prst="rect">
            <a:avLst/>
          </a:prstGeom>
          <a:noFill/>
          <a:ln/>
        </p:spPr>
        <p:txBody>
          <a:bodyPr wrap="square" lIns="0" tIns="0" rIns="0" bIns="0" rtlCol="0" anchor="ctr"/>
          <a:lstStyle/>
          <a:p>
            <a:pPr marL="0" indent="0" algn="ctr">
              <a:buNone/>
            </a:pPr>
            <a:r>
              <a:rPr lang="en-US" sz="1300" i="1">
                <a:solidFill>
                  <a:srgbClr val="5B6478"/>
                </a:solidFill>
                <a:latin typeface="Calibri" pitchFamily="34" charset="0"/>
                <a:ea typeface="Calibri" pitchFamily="34" charset="-122"/>
                <a:cs typeface="Calibri" pitchFamily="34" charset="-120"/>
              </a:rPr>
              <a:t>Upload is synchronous and fast; heavy processing runs on a background queue so the API responds immediately.</a:t>
            </a:r>
            <a:endParaRPr lang="en-US" sz="1300"/>
          </a:p>
        </p:txBody>
      </p:sp>
      <p:sp>
        <p:nvSpPr>
          <p:cNvPr id="34" name="Shape 32"/>
          <p:cNvSpPr/>
          <p:nvPr/>
        </p:nvSpPr>
        <p:spPr>
          <a:xfrm>
            <a:off x="457200" y="4160520"/>
            <a:ext cx="5486400" cy="1965960"/>
          </a:xfrm>
          <a:prstGeom prst="roundRect">
            <a:avLst>
              <a:gd name="adj" fmla="val 3256"/>
            </a:avLst>
          </a:prstGeom>
          <a:solidFill>
            <a:srgbClr val="F4F7FC"/>
          </a:solidFill>
          <a:ln w="9525">
            <a:solidFill>
              <a:srgbClr val="D9DFEE"/>
            </a:solidFill>
            <a:prstDash val="solid"/>
          </a:ln>
        </p:spPr>
      </p:sp>
      <p:sp>
        <p:nvSpPr>
          <p:cNvPr id="35" name="Text 33"/>
          <p:cNvSpPr txBox="1"/>
          <p:nvPr/>
        </p:nvSpPr>
        <p:spPr>
          <a:xfrm>
            <a:off x="731520" y="4315968"/>
            <a:ext cx="4937760" cy="274320"/>
          </a:xfrm>
          <a:prstGeom prst="rect">
            <a:avLst/>
          </a:prstGeom>
          <a:noFill/>
          <a:ln/>
        </p:spPr>
        <p:txBody>
          <a:bodyPr wrap="square" lIns="0" tIns="0" rIns="0" bIns="0" rtlCol="0" anchor="ctr"/>
          <a:lstStyle/>
          <a:p>
            <a:pPr marL="0" indent="0">
              <a:buNone/>
            </a:pPr>
            <a:r>
              <a:rPr lang="en-US" sz="1400" b="1">
                <a:solidFill>
                  <a:srgbClr val="1E2761"/>
                </a:solidFill>
                <a:latin typeface="Cambria" pitchFamily="34" charset="0"/>
                <a:ea typeface="Cambria" pitchFamily="34" charset="-122"/>
                <a:cs typeface="Cambria" pitchFamily="34" charset="-120"/>
              </a:rPr>
              <a:t>Document status</a:t>
            </a:r>
            <a:endParaRPr lang="en-US" sz="1400"/>
          </a:p>
        </p:txBody>
      </p:sp>
      <p:sp>
        <p:nvSpPr>
          <p:cNvPr id="36" name="Shape 34"/>
          <p:cNvSpPr/>
          <p:nvPr/>
        </p:nvSpPr>
        <p:spPr>
          <a:xfrm>
            <a:off x="731520" y="4663440"/>
            <a:ext cx="1417320" cy="457200"/>
          </a:xfrm>
          <a:prstGeom prst="roundRect">
            <a:avLst>
              <a:gd name="adj" fmla="val 16000"/>
            </a:avLst>
          </a:prstGeom>
          <a:solidFill>
            <a:srgbClr val="1E2761"/>
          </a:solidFill>
          <a:ln/>
        </p:spPr>
      </p:sp>
      <p:sp>
        <p:nvSpPr>
          <p:cNvPr id="37" name="Text 35"/>
          <p:cNvSpPr txBox="1"/>
          <p:nvPr/>
        </p:nvSpPr>
        <p:spPr>
          <a:xfrm>
            <a:off x="777240" y="4663440"/>
            <a:ext cx="132588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Uploaded</a:t>
            </a:r>
            <a:endParaRPr lang="en-US" sz="1100"/>
          </a:p>
        </p:txBody>
      </p:sp>
      <p:sp>
        <p:nvSpPr>
          <p:cNvPr id="38" name="Shape 36"/>
          <p:cNvSpPr/>
          <p:nvPr/>
        </p:nvSpPr>
        <p:spPr>
          <a:xfrm>
            <a:off x="2240280" y="4791456"/>
            <a:ext cx="201168" cy="160934"/>
          </a:xfrm>
          <a:prstGeom prst="rightArrow">
            <a:avLst/>
          </a:prstGeom>
          <a:solidFill>
            <a:srgbClr val="00C2A8"/>
          </a:solidFill>
          <a:ln/>
        </p:spPr>
      </p:sp>
      <p:sp>
        <p:nvSpPr>
          <p:cNvPr id="39" name="Shape 37"/>
          <p:cNvSpPr/>
          <p:nvPr/>
        </p:nvSpPr>
        <p:spPr>
          <a:xfrm>
            <a:off x="2514600" y="4663440"/>
            <a:ext cx="1417320" cy="457200"/>
          </a:xfrm>
          <a:prstGeom prst="roundRect">
            <a:avLst>
              <a:gd name="adj" fmla="val 16000"/>
            </a:avLst>
          </a:prstGeom>
          <a:solidFill>
            <a:srgbClr val="B8860B"/>
          </a:solidFill>
          <a:ln/>
        </p:spPr>
      </p:sp>
      <p:sp>
        <p:nvSpPr>
          <p:cNvPr id="40" name="Text 38"/>
          <p:cNvSpPr txBox="1"/>
          <p:nvPr/>
        </p:nvSpPr>
        <p:spPr>
          <a:xfrm>
            <a:off x="2560320" y="4663440"/>
            <a:ext cx="132588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Processing</a:t>
            </a:r>
            <a:endParaRPr lang="en-US" sz="1100"/>
          </a:p>
        </p:txBody>
      </p:sp>
      <p:sp>
        <p:nvSpPr>
          <p:cNvPr id="41" name="Shape 39"/>
          <p:cNvSpPr/>
          <p:nvPr/>
        </p:nvSpPr>
        <p:spPr>
          <a:xfrm>
            <a:off x="4023360" y="4791456"/>
            <a:ext cx="201168" cy="160934"/>
          </a:xfrm>
          <a:prstGeom prst="rightArrow">
            <a:avLst/>
          </a:prstGeom>
          <a:solidFill>
            <a:srgbClr val="00C2A8"/>
          </a:solidFill>
          <a:ln/>
        </p:spPr>
      </p:sp>
      <p:sp>
        <p:nvSpPr>
          <p:cNvPr id="42" name="Shape 40"/>
          <p:cNvSpPr/>
          <p:nvPr/>
        </p:nvSpPr>
        <p:spPr>
          <a:xfrm>
            <a:off x="4297680" y="4663440"/>
            <a:ext cx="1371600" cy="457200"/>
          </a:xfrm>
          <a:prstGeom prst="roundRect">
            <a:avLst>
              <a:gd name="adj" fmla="val 16000"/>
            </a:avLst>
          </a:prstGeom>
          <a:solidFill>
            <a:srgbClr val="00C2A8"/>
          </a:solidFill>
          <a:ln/>
        </p:spPr>
      </p:sp>
      <p:sp>
        <p:nvSpPr>
          <p:cNvPr id="43" name="Text 41"/>
          <p:cNvSpPr txBox="1"/>
          <p:nvPr/>
        </p:nvSpPr>
        <p:spPr>
          <a:xfrm>
            <a:off x="4343400" y="4663440"/>
            <a:ext cx="1280160" cy="457200"/>
          </a:xfrm>
          <a:prstGeom prst="rect">
            <a:avLst/>
          </a:prstGeom>
          <a:noFill/>
          <a:ln/>
        </p:spPr>
        <p:txBody>
          <a:bodyPr wrap="square" lIns="0" tIns="0" rIns="0" bIns="0" rtlCol="0" anchor="ctr"/>
          <a:lstStyle/>
          <a:p>
            <a:pPr marL="0" indent="0" algn="ctr">
              <a:buNone/>
            </a:pPr>
            <a:r>
              <a:rPr lang="en-US" sz="1100" b="1">
                <a:solidFill>
                  <a:srgbClr val="141B47"/>
                </a:solidFill>
                <a:latin typeface="Calibri" pitchFamily="34" charset="0"/>
                <a:ea typeface="Calibri" pitchFamily="34" charset="-122"/>
                <a:cs typeface="Calibri" pitchFamily="34" charset="-120"/>
              </a:rPr>
              <a:t>Ready</a:t>
            </a:r>
            <a:endParaRPr lang="en-US" sz="1100"/>
          </a:p>
        </p:txBody>
      </p:sp>
      <p:sp>
        <p:nvSpPr>
          <p:cNvPr id="44" name="Shape 42"/>
          <p:cNvSpPr/>
          <p:nvPr/>
        </p:nvSpPr>
        <p:spPr>
          <a:xfrm>
            <a:off x="3099816" y="5193792"/>
            <a:ext cx="201168" cy="181051"/>
          </a:xfrm>
          <a:prstGeom prst="downArrow">
            <a:avLst/>
          </a:prstGeom>
          <a:solidFill>
            <a:srgbClr val="00C2A8"/>
          </a:solidFill>
          <a:ln/>
        </p:spPr>
      </p:sp>
      <p:sp>
        <p:nvSpPr>
          <p:cNvPr id="45" name="Shape 43"/>
          <p:cNvSpPr/>
          <p:nvPr/>
        </p:nvSpPr>
        <p:spPr>
          <a:xfrm>
            <a:off x="2514600" y="5440680"/>
            <a:ext cx="1417320" cy="457200"/>
          </a:xfrm>
          <a:prstGeom prst="roundRect">
            <a:avLst>
              <a:gd name="adj" fmla="val 16000"/>
            </a:avLst>
          </a:prstGeom>
          <a:solidFill>
            <a:srgbClr val="C0392B"/>
          </a:solidFill>
          <a:ln/>
        </p:spPr>
      </p:sp>
      <p:sp>
        <p:nvSpPr>
          <p:cNvPr id="46" name="Text 44"/>
          <p:cNvSpPr txBox="1"/>
          <p:nvPr/>
        </p:nvSpPr>
        <p:spPr>
          <a:xfrm>
            <a:off x="2560320" y="5440680"/>
            <a:ext cx="132588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Failed</a:t>
            </a:r>
            <a:endParaRPr lang="en-US" sz="1100"/>
          </a:p>
        </p:txBody>
      </p:sp>
      <p:sp>
        <p:nvSpPr>
          <p:cNvPr id="47" name="Shape 45"/>
          <p:cNvSpPr/>
          <p:nvPr/>
        </p:nvSpPr>
        <p:spPr>
          <a:xfrm>
            <a:off x="6263640" y="4160520"/>
            <a:ext cx="5468112" cy="1965960"/>
          </a:xfrm>
          <a:prstGeom prst="roundRect">
            <a:avLst>
              <a:gd name="adj" fmla="val 3256"/>
            </a:avLst>
          </a:prstGeom>
          <a:solidFill>
            <a:srgbClr val="1E2761"/>
          </a:solidFill>
          <a:ln/>
        </p:spPr>
      </p:sp>
      <p:sp>
        <p:nvSpPr>
          <p:cNvPr id="48" name="Text 46"/>
          <p:cNvSpPr txBox="1"/>
          <p:nvPr/>
        </p:nvSpPr>
        <p:spPr>
          <a:xfrm>
            <a:off x="6537960" y="4315968"/>
            <a:ext cx="4919472" cy="274320"/>
          </a:xfrm>
          <a:prstGeom prst="rect">
            <a:avLst/>
          </a:prstGeom>
          <a:noFill/>
          <a:ln/>
        </p:spPr>
        <p:txBody>
          <a:bodyPr wrap="square" lIns="0" tIns="0" rIns="0" bIns="0" rtlCol="0" anchor="ctr"/>
          <a:lstStyle/>
          <a:p>
            <a:pPr marL="0" indent="0">
              <a:buNone/>
            </a:pPr>
            <a:r>
              <a:rPr lang="en-US" sz="1400" b="1">
                <a:solidFill>
                  <a:srgbClr val="00C2A8"/>
                </a:solidFill>
                <a:latin typeface="Cambria" pitchFamily="34" charset="0"/>
                <a:ea typeface="Cambria" pitchFamily="34" charset="-122"/>
                <a:cs typeface="Cambria" pitchFamily="34" charset="-120"/>
              </a:rPr>
              <a:t>Why asynchronous?</a:t>
            </a:r>
            <a:endParaRPr lang="en-US" sz="1400"/>
          </a:p>
        </p:txBody>
      </p:sp>
      <p:sp>
        <p:nvSpPr>
          <p:cNvPr id="49" name="Text 47"/>
          <p:cNvSpPr txBox="1"/>
          <p:nvPr/>
        </p:nvSpPr>
        <p:spPr>
          <a:xfrm>
            <a:off x="6537960" y="4663440"/>
            <a:ext cx="4919472" cy="1371600"/>
          </a:xfrm>
          <a:prstGeom prst="rect">
            <a:avLst/>
          </a:prstGeom>
          <a:noFill/>
          <a:ln/>
        </p:spPr>
        <p:txBody>
          <a:bodyPr wrap="square" lIns="0" tIns="0" rIns="0" bIns="0" rtlCol="0" anchor="t"/>
          <a:lstStyle/>
          <a:p>
            <a:pPr marL="342900" indent="-342900">
              <a:spcAft>
                <a:spcPts val="800"/>
              </a:spcAft>
              <a:buSzPct val="100000"/>
              <a:buChar char="•"/>
            </a:pPr>
            <a:r>
              <a:rPr lang="en-US" sz="1250">
                <a:solidFill>
                  <a:srgbClr val="FFFFFF"/>
                </a:solidFill>
                <a:latin typeface="Calibri" pitchFamily="34" charset="0"/>
                <a:ea typeface="Calibri" pitchFamily="34" charset="-122"/>
                <a:cs typeface="Calibri" pitchFamily="34" charset="-120"/>
              </a:rPr>
              <a:t>Extraction, chunking, and embedding take real time for large files</a:t>
            </a:r>
            <a:endParaRPr lang="en-US" sz="1250"/>
          </a:p>
          <a:p>
            <a:pPr marL="342900" indent="-342900">
              <a:spcAft>
                <a:spcPts val="800"/>
              </a:spcAft>
              <a:buSzPct val="100000"/>
              <a:buChar char="•"/>
            </a:pPr>
            <a:r>
              <a:rPr lang="en-US" sz="1250">
                <a:solidFill>
                  <a:srgbClr val="FFFFFF"/>
                </a:solidFill>
                <a:latin typeface="Calibri" pitchFamily="34" charset="0"/>
                <a:ea typeface="Calibri" pitchFamily="34" charset="-122"/>
                <a:cs typeface="Calibri" pitchFamily="34" charset="-120"/>
              </a:rPr>
              <a:t>A background queue keeps uploads fast and status visible</a:t>
            </a:r>
            <a:endParaRPr lang="en-US" sz="12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RETRIEVAL</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Chunking, embeddings &amp; similarity retrieval</a:t>
            </a:r>
            <a:endParaRPr lang="en-US" sz="2700"/>
          </a:p>
        </p:txBody>
      </p:sp>
      <p:sp>
        <p:nvSpPr>
          <p:cNvPr id="4" name="Shape 2"/>
          <p:cNvSpPr/>
          <p:nvPr/>
        </p:nvSpPr>
        <p:spPr>
          <a:xfrm>
            <a:off x="457200" y="1554480"/>
            <a:ext cx="2681478" cy="548640"/>
          </a:xfrm>
          <a:prstGeom prst="roundRect">
            <a:avLst>
              <a:gd name="adj" fmla="val 13333"/>
            </a:avLst>
          </a:prstGeom>
          <a:solidFill>
            <a:srgbClr val="1E2761"/>
          </a:solidFill>
          <a:ln/>
        </p:spPr>
      </p:sp>
      <p:sp>
        <p:nvSpPr>
          <p:cNvPr id="5" name="Text 3"/>
          <p:cNvSpPr txBox="1"/>
          <p:nvPr/>
        </p:nvSpPr>
        <p:spPr>
          <a:xfrm>
            <a:off x="502920" y="1554480"/>
            <a:ext cx="2590038" cy="5486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PDF</a:t>
            </a:r>
            <a:endParaRPr lang="en-US" sz="1150"/>
          </a:p>
        </p:txBody>
      </p:sp>
      <p:sp>
        <p:nvSpPr>
          <p:cNvPr id="6" name="Shape 4"/>
          <p:cNvSpPr/>
          <p:nvPr/>
        </p:nvSpPr>
        <p:spPr>
          <a:xfrm>
            <a:off x="3147822" y="1751076"/>
            <a:ext cx="155448" cy="124358"/>
          </a:xfrm>
          <a:prstGeom prst="rightArrow">
            <a:avLst/>
          </a:prstGeom>
          <a:solidFill>
            <a:srgbClr val="00C2A8"/>
          </a:solidFill>
          <a:ln/>
        </p:spPr>
      </p:sp>
      <p:sp>
        <p:nvSpPr>
          <p:cNvPr id="7" name="Shape 5"/>
          <p:cNvSpPr/>
          <p:nvPr/>
        </p:nvSpPr>
        <p:spPr>
          <a:xfrm>
            <a:off x="3321558" y="1554480"/>
            <a:ext cx="2681478" cy="548640"/>
          </a:xfrm>
          <a:prstGeom prst="roundRect">
            <a:avLst>
              <a:gd name="adj" fmla="val 13333"/>
            </a:avLst>
          </a:prstGeom>
          <a:solidFill>
            <a:srgbClr val="1E2761"/>
          </a:solidFill>
          <a:ln/>
        </p:spPr>
      </p:sp>
      <p:sp>
        <p:nvSpPr>
          <p:cNvPr id="8" name="Text 6"/>
          <p:cNvSpPr txBox="1"/>
          <p:nvPr/>
        </p:nvSpPr>
        <p:spPr>
          <a:xfrm>
            <a:off x="3367278" y="1554480"/>
            <a:ext cx="2590038" cy="5486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PdfPig</a:t>
            </a:r>
            <a:endParaRPr lang="en-US" sz="1150"/>
          </a:p>
        </p:txBody>
      </p:sp>
      <p:sp>
        <p:nvSpPr>
          <p:cNvPr id="9" name="Shape 7"/>
          <p:cNvSpPr/>
          <p:nvPr/>
        </p:nvSpPr>
        <p:spPr>
          <a:xfrm>
            <a:off x="6012180" y="1751076"/>
            <a:ext cx="155448" cy="124358"/>
          </a:xfrm>
          <a:prstGeom prst="rightArrow">
            <a:avLst/>
          </a:prstGeom>
          <a:solidFill>
            <a:srgbClr val="00C2A8"/>
          </a:solidFill>
          <a:ln/>
        </p:spPr>
      </p:sp>
      <p:sp>
        <p:nvSpPr>
          <p:cNvPr id="10" name="Shape 8"/>
          <p:cNvSpPr/>
          <p:nvPr/>
        </p:nvSpPr>
        <p:spPr>
          <a:xfrm>
            <a:off x="6185916" y="1554480"/>
            <a:ext cx="2681478" cy="548640"/>
          </a:xfrm>
          <a:prstGeom prst="roundRect">
            <a:avLst>
              <a:gd name="adj" fmla="val 13333"/>
            </a:avLst>
          </a:prstGeom>
          <a:solidFill>
            <a:srgbClr val="1E2761"/>
          </a:solidFill>
          <a:ln/>
        </p:spPr>
      </p:sp>
      <p:sp>
        <p:nvSpPr>
          <p:cNvPr id="11" name="Text 9"/>
          <p:cNvSpPr txBox="1"/>
          <p:nvPr/>
        </p:nvSpPr>
        <p:spPr>
          <a:xfrm>
            <a:off x="6231636" y="1554480"/>
            <a:ext cx="2590038" cy="5486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Text</a:t>
            </a:r>
            <a:endParaRPr lang="en-US" sz="1150"/>
          </a:p>
        </p:txBody>
      </p:sp>
      <p:sp>
        <p:nvSpPr>
          <p:cNvPr id="12" name="Shape 10"/>
          <p:cNvSpPr/>
          <p:nvPr/>
        </p:nvSpPr>
        <p:spPr>
          <a:xfrm>
            <a:off x="8876538" y="1751076"/>
            <a:ext cx="155448" cy="124358"/>
          </a:xfrm>
          <a:prstGeom prst="rightArrow">
            <a:avLst/>
          </a:prstGeom>
          <a:solidFill>
            <a:srgbClr val="00C2A8"/>
          </a:solidFill>
          <a:ln/>
        </p:spPr>
      </p:sp>
      <p:sp>
        <p:nvSpPr>
          <p:cNvPr id="13" name="Shape 11"/>
          <p:cNvSpPr/>
          <p:nvPr/>
        </p:nvSpPr>
        <p:spPr>
          <a:xfrm>
            <a:off x="9050274" y="1554480"/>
            <a:ext cx="2681478" cy="548640"/>
          </a:xfrm>
          <a:prstGeom prst="roundRect">
            <a:avLst>
              <a:gd name="adj" fmla="val 13333"/>
            </a:avLst>
          </a:prstGeom>
          <a:solidFill>
            <a:srgbClr val="1E2761"/>
          </a:solidFill>
          <a:ln/>
        </p:spPr>
      </p:sp>
      <p:sp>
        <p:nvSpPr>
          <p:cNvPr id="14" name="Text 12"/>
          <p:cNvSpPr txBox="1"/>
          <p:nvPr/>
        </p:nvSpPr>
        <p:spPr>
          <a:xfrm>
            <a:off x="9095994" y="1554480"/>
            <a:ext cx="2590038" cy="54864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Chunks (+ page, index, tokens)</a:t>
            </a:r>
            <a:endParaRPr lang="en-US" sz="1150"/>
          </a:p>
        </p:txBody>
      </p:sp>
      <p:sp>
        <p:nvSpPr>
          <p:cNvPr id="15" name="Shape 13"/>
          <p:cNvSpPr/>
          <p:nvPr/>
        </p:nvSpPr>
        <p:spPr>
          <a:xfrm>
            <a:off x="457200" y="2377440"/>
            <a:ext cx="5440680" cy="3246120"/>
          </a:xfrm>
          <a:prstGeom prst="roundRect">
            <a:avLst>
              <a:gd name="adj" fmla="val 1972"/>
            </a:avLst>
          </a:prstGeom>
          <a:solidFill>
            <a:srgbClr val="F4F7FC"/>
          </a:solidFill>
          <a:ln w="9525">
            <a:solidFill>
              <a:srgbClr val="D9DFEE"/>
            </a:solidFill>
            <a:prstDash val="solid"/>
          </a:ln>
        </p:spPr>
      </p:sp>
      <p:sp>
        <p:nvSpPr>
          <p:cNvPr id="16" name="Text 14"/>
          <p:cNvSpPr txBox="1"/>
          <p:nvPr/>
        </p:nvSpPr>
        <p:spPr>
          <a:xfrm>
            <a:off x="731520" y="2542032"/>
            <a:ext cx="4892040" cy="274320"/>
          </a:xfrm>
          <a:prstGeom prst="rect">
            <a:avLst/>
          </a:prstGeom>
          <a:noFill/>
          <a:ln/>
        </p:spPr>
        <p:txBody>
          <a:bodyPr wrap="square" lIns="0" tIns="0" rIns="0" bIns="0" rtlCol="0" anchor="ctr"/>
          <a:lstStyle/>
          <a:p>
            <a:pPr marL="0" indent="0">
              <a:buNone/>
            </a:pPr>
            <a:r>
              <a:rPr lang="en-US" sz="1350" b="1">
                <a:solidFill>
                  <a:srgbClr val="1E2761"/>
                </a:solidFill>
                <a:latin typeface="Cambria" pitchFamily="34" charset="0"/>
                <a:ea typeface="Cambria" pitchFamily="34" charset="-122"/>
                <a:cs typeface="Cambria" pitchFamily="34" charset="-120"/>
              </a:rPr>
              <a:t>Indexing (per chunk)</a:t>
            </a:r>
            <a:endParaRPr lang="en-US" sz="1350"/>
          </a:p>
        </p:txBody>
      </p:sp>
      <p:sp>
        <p:nvSpPr>
          <p:cNvPr id="17" name="Shape 15"/>
          <p:cNvSpPr/>
          <p:nvPr/>
        </p:nvSpPr>
        <p:spPr>
          <a:xfrm>
            <a:off x="731520" y="2880360"/>
            <a:ext cx="4892040" cy="457200"/>
          </a:xfrm>
          <a:prstGeom prst="roundRect">
            <a:avLst>
              <a:gd name="adj" fmla="val 16000"/>
            </a:avLst>
          </a:prstGeom>
          <a:solidFill>
            <a:srgbClr val="1E2761"/>
          </a:solidFill>
          <a:ln/>
        </p:spPr>
      </p:sp>
      <p:sp>
        <p:nvSpPr>
          <p:cNvPr id="18" name="Text 16"/>
          <p:cNvSpPr txBox="1"/>
          <p:nvPr/>
        </p:nvSpPr>
        <p:spPr>
          <a:xfrm>
            <a:off x="777240" y="2880360"/>
            <a:ext cx="480060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Chunk → Embedding Model</a:t>
            </a:r>
            <a:endParaRPr lang="en-US" sz="1150"/>
          </a:p>
        </p:txBody>
      </p:sp>
      <p:sp>
        <p:nvSpPr>
          <p:cNvPr id="19" name="Shape 17"/>
          <p:cNvSpPr/>
          <p:nvPr/>
        </p:nvSpPr>
        <p:spPr>
          <a:xfrm>
            <a:off x="3113532" y="3355848"/>
            <a:ext cx="128016" cy="115214"/>
          </a:xfrm>
          <a:prstGeom prst="downArrow">
            <a:avLst/>
          </a:prstGeom>
          <a:solidFill>
            <a:srgbClr val="00C2A8"/>
          </a:solidFill>
          <a:ln/>
        </p:spPr>
      </p:sp>
      <p:sp>
        <p:nvSpPr>
          <p:cNvPr id="20" name="Shape 18"/>
          <p:cNvSpPr/>
          <p:nvPr/>
        </p:nvSpPr>
        <p:spPr>
          <a:xfrm>
            <a:off x="731520" y="3483864"/>
            <a:ext cx="4892040" cy="457200"/>
          </a:xfrm>
          <a:prstGeom prst="roundRect">
            <a:avLst>
              <a:gd name="adj" fmla="val 16000"/>
            </a:avLst>
          </a:prstGeom>
          <a:solidFill>
            <a:srgbClr val="1E2761"/>
          </a:solidFill>
          <a:ln/>
        </p:spPr>
      </p:sp>
      <p:sp>
        <p:nvSpPr>
          <p:cNvPr id="21" name="Text 19"/>
          <p:cNvSpPr txBox="1"/>
          <p:nvPr/>
        </p:nvSpPr>
        <p:spPr>
          <a:xfrm>
            <a:off x="777240" y="3483864"/>
            <a:ext cx="480060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Numerical Vector</a:t>
            </a:r>
            <a:endParaRPr lang="en-US" sz="1150"/>
          </a:p>
        </p:txBody>
      </p:sp>
      <p:sp>
        <p:nvSpPr>
          <p:cNvPr id="22" name="Shape 20"/>
          <p:cNvSpPr/>
          <p:nvPr/>
        </p:nvSpPr>
        <p:spPr>
          <a:xfrm>
            <a:off x="3113532" y="3959352"/>
            <a:ext cx="128016" cy="115214"/>
          </a:xfrm>
          <a:prstGeom prst="downArrow">
            <a:avLst/>
          </a:prstGeom>
          <a:solidFill>
            <a:srgbClr val="00C2A8"/>
          </a:solidFill>
          <a:ln/>
        </p:spPr>
      </p:sp>
      <p:sp>
        <p:nvSpPr>
          <p:cNvPr id="23" name="Shape 21"/>
          <p:cNvSpPr/>
          <p:nvPr/>
        </p:nvSpPr>
        <p:spPr>
          <a:xfrm>
            <a:off x="731520" y="4087368"/>
            <a:ext cx="4892040" cy="457200"/>
          </a:xfrm>
          <a:prstGeom prst="roundRect">
            <a:avLst>
              <a:gd name="adj" fmla="val 16000"/>
            </a:avLst>
          </a:prstGeom>
          <a:solidFill>
            <a:srgbClr val="1E2761"/>
          </a:solidFill>
          <a:ln/>
        </p:spPr>
      </p:sp>
      <p:sp>
        <p:nvSpPr>
          <p:cNvPr id="24" name="Text 22"/>
          <p:cNvSpPr txBox="1"/>
          <p:nvPr/>
        </p:nvSpPr>
        <p:spPr>
          <a:xfrm>
            <a:off x="777240" y="4087368"/>
            <a:ext cx="480060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Stored with Chunk (JSON)</a:t>
            </a:r>
            <a:endParaRPr lang="en-US" sz="1150"/>
          </a:p>
        </p:txBody>
      </p:sp>
      <p:sp>
        <p:nvSpPr>
          <p:cNvPr id="25" name="Shape 23"/>
          <p:cNvSpPr/>
          <p:nvPr/>
        </p:nvSpPr>
        <p:spPr>
          <a:xfrm>
            <a:off x="6108192" y="2377440"/>
            <a:ext cx="5623560" cy="3246120"/>
          </a:xfrm>
          <a:prstGeom prst="roundRect">
            <a:avLst>
              <a:gd name="adj" fmla="val 1972"/>
            </a:avLst>
          </a:prstGeom>
          <a:solidFill>
            <a:srgbClr val="F4F7FC"/>
          </a:solidFill>
          <a:ln w="9525">
            <a:solidFill>
              <a:srgbClr val="D9DFEE"/>
            </a:solidFill>
            <a:prstDash val="solid"/>
          </a:ln>
        </p:spPr>
      </p:sp>
      <p:sp>
        <p:nvSpPr>
          <p:cNvPr id="26" name="Text 24"/>
          <p:cNvSpPr txBox="1"/>
          <p:nvPr/>
        </p:nvSpPr>
        <p:spPr>
          <a:xfrm>
            <a:off x="6382512" y="2542032"/>
            <a:ext cx="5074920" cy="274320"/>
          </a:xfrm>
          <a:prstGeom prst="rect">
            <a:avLst/>
          </a:prstGeom>
          <a:noFill/>
          <a:ln/>
        </p:spPr>
        <p:txBody>
          <a:bodyPr wrap="square" lIns="0" tIns="0" rIns="0" bIns="0" rtlCol="0" anchor="ctr"/>
          <a:lstStyle/>
          <a:p>
            <a:pPr marL="0" indent="0">
              <a:buNone/>
            </a:pPr>
            <a:r>
              <a:rPr lang="en-US" sz="1350" b="1">
                <a:solidFill>
                  <a:srgbClr val="1E2761"/>
                </a:solidFill>
                <a:latin typeface="Cambria" pitchFamily="34" charset="0"/>
                <a:ea typeface="Cambria" pitchFamily="34" charset="-122"/>
                <a:cs typeface="Cambria" pitchFamily="34" charset="-120"/>
              </a:rPr>
              <a:t>Query time</a:t>
            </a:r>
            <a:endParaRPr lang="en-US" sz="1350"/>
          </a:p>
        </p:txBody>
      </p:sp>
      <p:sp>
        <p:nvSpPr>
          <p:cNvPr id="27" name="Shape 25"/>
          <p:cNvSpPr/>
          <p:nvPr/>
        </p:nvSpPr>
        <p:spPr>
          <a:xfrm>
            <a:off x="6382512" y="2880360"/>
            <a:ext cx="5074920" cy="457200"/>
          </a:xfrm>
          <a:prstGeom prst="roundRect">
            <a:avLst>
              <a:gd name="adj" fmla="val 16000"/>
            </a:avLst>
          </a:prstGeom>
          <a:solidFill>
            <a:srgbClr val="1E2761"/>
          </a:solidFill>
          <a:ln/>
        </p:spPr>
      </p:sp>
      <p:sp>
        <p:nvSpPr>
          <p:cNvPr id="28" name="Text 26"/>
          <p:cNvSpPr txBox="1"/>
          <p:nvPr/>
        </p:nvSpPr>
        <p:spPr>
          <a:xfrm>
            <a:off x="6428232" y="2880360"/>
            <a:ext cx="498348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Question → Query Embedding</a:t>
            </a:r>
            <a:endParaRPr lang="en-US" sz="1150"/>
          </a:p>
        </p:txBody>
      </p:sp>
      <p:sp>
        <p:nvSpPr>
          <p:cNvPr id="29" name="Shape 27"/>
          <p:cNvSpPr/>
          <p:nvPr/>
        </p:nvSpPr>
        <p:spPr>
          <a:xfrm>
            <a:off x="8855964" y="3355848"/>
            <a:ext cx="128016" cy="115214"/>
          </a:xfrm>
          <a:prstGeom prst="downArrow">
            <a:avLst/>
          </a:prstGeom>
          <a:solidFill>
            <a:srgbClr val="00C2A8"/>
          </a:solidFill>
          <a:ln/>
        </p:spPr>
      </p:sp>
      <p:sp>
        <p:nvSpPr>
          <p:cNvPr id="30" name="Shape 28"/>
          <p:cNvSpPr/>
          <p:nvPr/>
        </p:nvSpPr>
        <p:spPr>
          <a:xfrm>
            <a:off x="6382512" y="3483864"/>
            <a:ext cx="5074920" cy="457200"/>
          </a:xfrm>
          <a:prstGeom prst="roundRect">
            <a:avLst>
              <a:gd name="adj" fmla="val 16000"/>
            </a:avLst>
          </a:prstGeom>
          <a:solidFill>
            <a:srgbClr val="1E2761"/>
          </a:solidFill>
          <a:ln/>
        </p:spPr>
      </p:sp>
      <p:sp>
        <p:nvSpPr>
          <p:cNvPr id="31" name="Text 29"/>
          <p:cNvSpPr txBox="1"/>
          <p:nvPr/>
        </p:nvSpPr>
        <p:spPr>
          <a:xfrm>
            <a:off x="6428232" y="3483864"/>
            <a:ext cx="498348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Cosine Similarity vs Stored Vectors</a:t>
            </a:r>
            <a:endParaRPr lang="en-US" sz="1150"/>
          </a:p>
        </p:txBody>
      </p:sp>
      <p:sp>
        <p:nvSpPr>
          <p:cNvPr id="32" name="Shape 30"/>
          <p:cNvSpPr/>
          <p:nvPr/>
        </p:nvSpPr>
        <p:spPr>
          <a:xfrm>
            <a:off x="8855964" y="3959352"/>
            <a:ext cx="128016" cy="115214"/>
          </a:xfrm>
          <a:prstGeom prst="downArrow">
            <a:avLst/>
          </a:prstGeom>
          <a:solidFill>
            <a:srgbClr val="00C2A8"/>
          </a:solidFill>
          <a:ln/>
        </p:spPr>
      </p:sp>
      <p:sp>
        <p:nvSpPr>
          <p:cNvPr id="33" name="Shape 31"/>
          <p:cNvSpPr/>
          <p:nvPr/>
        </p:nvSpPr>
        <p:spPr>
          <a:xfrm>
            <a:off x="6382512" y="4087368"/>
            <a:ext cx="5074920" cy="457200"/>
          </a:xfrm>
          <a:prstGeom prst="roundRect">
            <a:avLst>
              <a:gd name="adj" fmla="val 16000"/>
            </a:avLst>
          </a:prstGeom>
          <a:solidFill>
            <a:srgbClr val="1E2761"/>
          </a:solidFill>
          <a:ln/>
        </p:spPr>
      </p:sp>
      <p:sp>
        <p:nvSpPr>
          <p:cNvPr id="34" name="Text 32"/>
          <p:cNvSpPr txBox="1"/>
          <p:nvPr/>
        </p:nvSpPr>
        <p:spPr>
          <a:xfrm>
            <a:off x="6428232" y="4087368"/>
            <a:ext cx="498348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Top-K Chunks Returned</a:t>
            </a:r>
            <a:endParaRPr lang="en-US" sz="1150"/>
          </a:p>
        </p:txBody>
      </p:sp>
      <p:sp>
        <p:nvSpPr>
          <p:cNvPr id="35" name="Shape 33"/>
          <p:cNvSpPr/>
          <p:nvPr/>
        </p:nvSpPr>
        <p:spPr>
          <a:xfrm>
            <a:off x="457200" y="5760720"/>
            <a:ext cx="11274552" cy="777240"/>
          </a:xfrm>
          <a:prstGeom prst="roundRect">
            <a:avLst>
              <a:gd name="adj" fmla="val 8235"/>
            </a:avLst>
          </a:prstGeom>
          <a:solidFill>
            <a:srgbClr val="F5EEDC"/>
          </a:solidFill>
          <a:ln w="9525">
            <a:solidFill>
              <a:srgbClr val="B8860B"/>
            </a:solidFill>
            <a:prstDash val="solid"/>
          </a:ln>
        </p:spPr>
      </p:sp>
      <p:sp>
        <p:nvSpPr>
          <p:cNvPr id="36" name="Text 34"/>
          <p:cNvSpPr txBox="1"/>
          <p:nvPr/>
        </p:nvSpPr>
        <p:spPr>
          <a:xfrm>
            <a:off x="731520" y="5760720"/>
            <a:ext cx="10698480" cy="777240"/>
          </a:xfrm>
          <a:prstGeom prst="rect">
            <a:avLst/>
          </a:prstGeom>
          <a:noFill/>
          <a:ln/>
        </p:spPr>
        <p:txBody>
          <a:bodyPr wrap="square" lIns="0" tIns="0" rIns="0" bIns="0" rtlCol="0" anchor="ctr"/>
          <a:lstStyle/>
          <a:p>
            <a:pPr marL="0" indent="0">
              <a:buNone/>
            </a:pPr>
            <a:r>
              <a:rPr lang="en-US" sz="1250" b="1" i="1">
                <a:solidFill>
                  <a:srgbClr val="6B4E00"/>
                </a:solidFill>
                <a:latin typeface="Calibri" pitchFamily="34" charset="0"/>
                <a:ea typeface="Calibri" pitchFamily="34" charset="-122"/>
                <a:cs typeface="Calibri" pitchFamily="34" charset="-120"/>
              </a:rPr>
              <a:t>Embeddings are stored as JSON on the chunk row in SQL Server — this is not a dedicated vector database.</a:t>
            </a:r>
            <a:endParaRPr lang="en-US" sz="12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47"/>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GENERATION</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FFFFFF"/>
                </a:solidFill>
                <a:latin typeface="Cambria" pitchFamily="34" charset="0"/>
                <a:ea typeface="Cambria" pitchFamily="34" charset="-122"/>
                <a:cs typeface="Cambria" pitchFamily="34" charset="-120"/>
              </a:rPr>
              <a:t>RAG pipeline + Gemini</a:t>
            </a:r>
            <a:endParaRPr lang="en-US" sz="2700"/>
          </a:p>
        </p:txBody>
      </p:sp>
      <p:sp>
        <p:nvSpPr>
          <p:cNvPr id="4" name="Shape 2"/>
          <p:cNvSpPr/>
          <p:nvPr/>
        </p:nvSpPr>
        <p:spPr>
          <a:xfrm>
            <a:off x="457200" y="1828800"/>
            <a:ext cx="1469571" cy="868680"/>
          </a:xfrm>
          <a:prstGeom prst="roundRect">
            <a:avLst>
              <a:gd name="adj" fmla="val 8421"/>
            </a:avLst>
          </a:prstGeom>
          <a:solidFill>
            <a:srgbClr val="2A356E"/>
          </a:solidFill>
          <a:ln/>
        </p:spPr>
      </p:sp>
      <p:sp>
        <p:nvSpPr>
          <p:cNvPr id="5" name="Text 3"/>
          <p:cNvSpPr txBox="1"/>
          <p:nvPr/>
        </p:nvSpPr>
        <p:spPr>
          <a:xfrm>
            <a:off x="502920" y="1828800"/>
            <a:ext cx="1378131" cy="8686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Question</a:t>
            </a:r>
            <a:endParaRPr lang="en-US" sz="1100"/>
          </a:p>
        </p:txBody>
      </p:sp>
      <p:sp>
        <p:nvSpPr>
          <p:cNvPr id="6" name="Shape 4"/>
          <p:cNvSpPr/>
          <p:nvPr/>
        </p:nvSpPr>
        <p:spPr>
          <a:xfrm>
            <a:off x="1935915" y="2194560"/>
            <a:ext cx="137160" cy="109728"/>
          </a:xfrm>
          <a:prstGeom prst="rightArrow">
            <a:avLst/>
          </a:prstGeom>
          <a:solidFill>
            <a:srgbClr val="00C2A8"/>
          </a:solidFill>
          <a:ln/>
        </p:spPr>
      </p:sp>
      <p:sp>
        <p:nvSpPr>
          <p:cNvPr id="7" name="Shape 5"/>
          <p:cNvSpPr/>
          <p:nvPr/>
        </p:nvSpPr>
        <p:spPr>
          <a:xfrm>
            <a:off x="2091363" y="1828800"/>
            <a:ext cx="1469571" cy="868680"/>
          </a:xfrm>
          <a:prstGeom prst="roundRect">
            <a:avLst>
              <a:gd name="adj" fmla="val 8421"/>
            </a:avLst>
          </a:prstGeom>
          <a:solidFill>
            <a:srgbClr val="2A356E"/>
          </a:solidFill>
          <a:ln/>
        </p:spPr>
      </p:sp>
      <p:sp>
        <p:nvSpPr>
          <p:cNvPr id="8" name="Text 6"/>
          <p:cNvSpPr txBox="1"/>
          <p:nvPr/>
        </p:nvSpPr>
        <p:spPr>
          <a:xfrm>
            <a:off x="2137083" y="1828800"/>
            <a:ext cx="1378131" cy="8686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Embed &amp; Retrieve</a:t>
            </a:r>
            <a:endParaRPr lang="en-US" sz="1100"/>
          </a:p>
        </p:txBody>
      </p:sp>
      <p:sp>
        <p:nvSpPr>
          <p:cNvPr id="9" name="Shape 7"/>
          <p:cNvSpPr/>
          <p:nvPr/>
        </p:nvSpPr>
        <p:spPr>
          <a:xfrm>
            <a:off x="3570079" y="2194560"/>
            <a:ext cx="137160" cy="109728"/>
          </a:xfrm>
          <a:prstGeom prst="rightArrow">
            <a:avLst/>
          </a:prstGeom>
          <a:solidFill>
            <a:srgbClr val="00C2A8"/>
          </a:solidFill>
          <a:ln/>
        </p:spPr>
      </p:sp>
      <p:sp>
        <p:nvSpPr>
          <p:cNvPr id="10" name="Shape 8"/>
          <p:cNvSpPr/>
          <p:nvPr/>
        </p:nvSpPr>
        <p:spPr>
          <a:xfrm>
            <a:off x="3725527" y="1828800"/>
            <a:ext cx="1469571" cy="868680"/>
          </a:xfrm>
          <a:prstGeom prst="roundRect">
            <a:avLst>
              <a:gd name="adj" fmla="val 8421"/>
            </a:avLst>
          </a:prstGeom>
          <a:solidFill>
            <a:srgbClr val="2A356E"/>
          </a:solidFill>
          <a:ln/>
        </p:spPr>
      </p:sp>
      <p:sp>
        <p:nvSpPr>
          <p:cNvPr id="11" name="Text 9"/>
          <p:cNvSpPr txBox="1"/>
          <p:nvPr/>
        </p:nvSpPr>
        <p:spPr>
          <a:xfrm>
            <a:off x="3771247" y="1828800"/>
            <a:ext cx="1378131" cy="8686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Top-K Chunks</a:t>
            </a:r>
            <a:endParaRPr lang="en-US" sz="1100"/>
          </a:p>
        </p:txBody>
      </p:sp>
      <p:sp>
        <p:nvSpPr>
          <p:cNvPr id="12" name="Shape 10"/>
          <p:cNvSpPr/>
          <p:nvPr/>
        </p:nvSpPr>
        <p:spPr>
          <a:xfrm>
            <a:off x="5204242" y="2194560"/>
            <a:ext cx="137160" cy="109728"/>
          </a:xfrm>
          <a:prstGeom prst="rightArrow">
            <a:avLst/>
          </a:prstGeom>
          <a:solidFill>
            <a:srgbClr val="00C2A8"/>
          </a:solidFill>
          <a:ln/>
        </p:spPr>
      </p:sp>
      <p:sp>
        <p:nvSpPr>
          <p:cNvPr id="13" name="Shape 11"/>
          <p:cNvSpPr/>
          <p:nvPr/>
        </p:nvSpPr>
        <p:spPr>
          <a:xfrm>
            <a:off x="5359690" y="1828800"/>
            <a:ext cx="1469571" cy="868680"/>
          </a:xfrm>
          <a:prstGeom prst="roundRect">
            <a:avLst>
              <a:gd name="adj" fmla="val 8421"/>
            </a:avLst>
          </a:prstGeom>
          <a:solidFill>
            <a:srgbClr val="2A356E"/>
          </a:solidFill>
          <a:ln/>
        </p:spPr>
      </p:sp>
      <p:sp>
        <p:nvSpPr>
          <p:cNvPr id="14" name="Text 12"/>
          <p:cNvSpPr txBox="1"/>
          <p:nvPr/>
        </p:nvSpPr>
        <p:spPr>
          <a:xfrm>
            <a:off x="5405410" y="1828800"/>
            <a:ext cx="1378131" cy="8686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Grounded Prompt</a:t>
            </a:r>
            <a:endParaRPr lang="en-US" sz="1100"/>
          </a:p>
        </p:txBody>
      </p:sp>
      <p:sp>
        <p:nvSpPr>
          <p:cNvPr id="15" name="Shape 13"/>
          <p:cNvSpPr/>
          <p:nvPr/>
        </p:nvSpPr>
        <p:spPr>
          <a:xfrm>
            <a:off x="6838406" y="2194560"/>
            <a:ext cx="137160" cy="109728"/>
          </a:xfrm>
          <a:prstGeom prst="rightArrow">
            <a:avLst/>
          </a:prstGeom>
          <a:solidFill>
            <a:srgbClr val="00C2A8"/>
          </a:solidFill>
          <a:ln/>
        </p:spPr>
      </p:sp>
      <p:sp>
        <p:nvSpPr>
          <p:cNvPr id="16" name="Shape 14"/>
          <p:cNvSpPr/>
          <p:nvPr/>
        </p:nvSpPr>
        <p:spPr>
          <a:xfrm>
            <a:off x="6993854" y="1828800"/>
            <a:ext cx="1469571" cy="868680"/>
          </a:xfrm>
          <a:prstGeom prst="roundRect">
            <a:avLst>
              <a:gd name="adj" fmla="val 8421"/>
            </a:avLst>
          </a:prstGeom>
          <a:solidFill>
            <a:srgbClr val="00C2A8"/>
          </a:solidFill>
          <a:ln/>
        </p:spPr>
      </p:sp>
      <p:sp>
        <p:nvSpPr>
          <p:cNvPr id="17" name="Text 15"/>
          <p:cNvSpPr txBox="1"/>
          <p:nvPr/>
        </p:nvSpPr>
        <p:spPr>
          <a:xfrm>
            <a:off x="7039574" y="1828800"/>
            <a:ext cx="1378131" cy="868680"/>
          </a:xfrm>
          <a:prstGeom prst="rect">
            <a:avLst/>
          </a:prstGeom>
          <a:noFill/>
          <a:ln/>
        </p:spPr>
        <p:txBody>
          <a:bodyPr wrap="square" lIns="0" tIns="0" rIns="0" bIns="0" rtlCol="0" anchor="ctr"/>
          <a:lstStyle/>
          <a:p>
            <a:pPr marL="0" indent="0" algn="ctr">
              <a:buNone/>
            </a:pPr>
            <a:r>
              <a:rPr lang="en-US" sz="1100" b="1">
                <a:solidFill>
                  <a:srgbClr val="141B47"/>
                </a:solidFill>
                <a:latin typeface="Calibri" pitchFamily="34" charset="0"/>
                <a:ea typeface="Calibri" pitchFamily="34" charset="-122"/>
                <a:cs typeface="Calibri" pitchFamily="34" charset="-120"/>
              </a:rPr>
              <a:t>Google Gemini</a:t>
            </a:r>
            <a:endParaRPr lang="en-US" sz="1100"/>
          </a:p>
        </p:txBody>
      </p:sp>
      <p:sp>
        <p:nvSpPr>
          <p:cNvPr id="18" name="Shape 16"/>
          <p:cNvSpPr/>
          <p:nvPr/>
        </p:nvSpPr>
        <p:spPr>
          <a:xfrm>
            <a:off x="8472569" y="2194560"/>
            <a:ext cx="137160" cy="109728"/>
          </a:xfrm>
          <a:prstGeom prst="rightArrow">
            <a:avLst/>
          </a:prstGeom>
          <a:solidFill>
            <a:srgbClr val="00C2A8"/>
          </a:solidFill>
          <a:ln/>
        </p:spPr>
      </p:sp>
      <p:sp>
        <p:nvSpPr>
          <p:cNvPr id="19" name="Shape 17"/>
          <p:cNvSpPr/>
          <p:nvPr/>
        </p:nvSpPr>
        <p:spPr>
          <a:xfrm>
            <a:off x="8628017" y="1828800"/>
            <a:ext cx="1469571" cy="868680"/>
          </a:xfrm>
          <a:prstGeom prst="roundRect">
            <a:avLst>
              <a:gd name="adj" fmla="val 8421"/>
            </a:avLst>
          </a:prstGeom>
          <a:solidFill>
            <a:srgbClr val="2A356E"/>
          </a:solidFill>
          <a:ln/>
        </p:spPr>
      </p:sp>
      <p:sp>
        <p:nvSpPr>
          <p:cNvPr id="20" name="Text 18"/>
          <p:cNvSpPr txBox="1"/>
          <p:nvPr/>
        </p:nvSpPr>
        <p:spPr>
          <a:xfrm>
            <a:off x="8673737" y="1828800"/>
            <a:ext cx="1378131" cy="8686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Answer + Sources</a:t>
            </a:r>
            <a:endParaRPr lang="en-US" sz="1100"/>
          </a:p>
        </p:txBody>
      </p:sp>
      <p:sp>
        <p:nvSpPr>
          <p:cNvPr id="21" name="Shape 19"/>
          <p:cNvSpPr/>
          <p:nvPr/>
        </p:nvSpPr>
        <p:spPr>
          <a:xfrm>
            <a:off x="10106733" y="2194560"/>
            <a:ext cx="137160" cy="109728"/>
          </a:xfrm>
          <a:prstGeom prst="rightArrow">
            <a:avLst/>
          </a:prstGeom>
          <a:solidFill>
            <a:srgbClr val="00C2A8"/>
          </a:solidFill>
          <a:ln/>
        </p:spPr>
      </p:sp>
      <p:sp>
        <p:nvSpPr>
          <p:cNvPr id="22" name="Shape 20"/>
          <p:cNvSpPr/>
          <p:nvPr/>
        </p:nvSpPr>
        <p:spPr>
          <a:xfrm>
            <a:off x="10262181" y="1828800"/>
            <a:ext cx="1469571" cy="868680"/>
          </a:xfrm>
          <a:prstGeom prst="roundRect">
            <a:avLst>
              <a:gd name="adj" fmla="val 8421"/>
            </a:avLst>
          </a:prstGeom>
          <a:solidFill>
            <a:srgbClr val="2A356E"/>
          </a:solidFill>
          <a:ln/>
        </p:spPr>
      </p:sp>
      <p:sp>
        <p:nvSpPr>
          <p:cNvPr id="23" name="Text 21"/>
          <p:cNvSpPr txBox="1"/>
          <p:nvPr/>
        </p:nvSpPr>
        <p:spPr>
          <a:xfrm>
            <a:off x="10307901" y="1828800"/>
            <a:ext cx="1378131" cy="8686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Query History</a:t>
            </a:r>
            <a:endParaRPr lang="en-US" sz="1100"/>
          </a:p>
        </p:txBody>
      </p:sp>
      <p:sp>
        <p:nvSpPr>
          <p:cNvPr id="24" name="Shape 22"/>
          <p:cNvSpPr/>
          <p:nvPr/>
        </p:nvSpPr>
        <p:spPr>
          <a:xfrm>
            <a:off x="457200" y="3246120"/>
            <a:ext cx="5394960" cy="1371600"/>
          </a:xfrm>
          <a:prstGeom prst="roundRect">
            <a:avLst>
              <a:gd name="adj" fmla="val 4667"/>
            </a:avLst>
          </a:prstGeom>
          <a:solidFill>
            <a:srgbClr val="1B2352"/>
          </a:solidFill>
          <a:ln w="9525">
            <a:solidFill>
              <a:srgbClr val="2A356E"/>
            </a:solidFill>
            <a:prstDash val="solid"/>
          </a:ln>
        </p:spPr>
      </p:sp>
      <p:sp>
        <p:nvSpPr>
          <p:cNvPr id="25" name="Text 23"/>
          <p:cNvSpPr txBox="1"/>
          <p:nvPr/>
        </p:nvSpPr>
        <p:spPr>
          <a:xfrm>
            <a:off x="685800" y="3355848"/>
            <a:ext cx="4937760" cy="274320"/>
          </a:xfrm>
          <a:prstGeom prst="rect">
            <a:avLst/>
          </a:prstGeom>
          <a:noFill/>
          <a:ln/>
        </p:spPr>
        <p:txBody>
          <a:bodyPr wrap="square" lIns="0" tIns="0" rIns="0" bIns="0" rtlCol="0" anchor="ctr"/>
          <a:lstStyle/>
          <a:p>
            <a:pPr marL="0" indent="0">
              <a:buNone/>
            </a:pPr>
            <a:r>
              <a:rPr lang="en-US" sz="1400" b="1">
                <a:solidFill>
                  <a:srgbClr val="00C2A8"/>
                </a:solidFill>
                <a:latin typeface="Cambria" pitchFamily="34" charset="0"/>
                <a:ea typeface="Cambria" pitchFamily="34" charset="-122"/>
                <a:cs typeface="Cambria" pitchFamily="34" charset="-120"/>
              </a:rPr>
              <a:t>Retrieval</a:t>
            </a:r>
            <a:endParaRPr lang="en-US" sz="1400"/>
          </a:p>
        </p:txBody>
      </p:sp>
      <p:sp>
        <p:nvSpPr>
          <p:cNvPr id="26" name="Text 24"/>
          <p:cNvSpPr txBox="1"/>
          <p:nvPr/>
        </p:nvSpPr>
        <p:spPr>
          <a:xfrm>
            <a:off x="685800" y="3703320"/>
            <a:ext cx="4937760" cy="822960"/>
          </a:xfrm>
          <a:prstGeom prst="rect">
            <a:avLst/>
          </a:prstGeom>
          <a:noFill/>
          <a:ln/>
        </p:spPr>
        <p:txBody>
          <a:bodyPr wrap="square" lIns="0" tIns="0" rIns="0" bIns="0" rtlCol="0" anchor="ctr"/>
          <a:lstStyle/>
          <a:p>
            <a:pPr marL="0" indent="0">
              <a:buNone/>
            </a:pPr>
            <a:r>
              <a:rPr lang="en-US" sz="1250">
                <a:solidFill>
                  <a:srgbClr val="CADCFC"/>
                </a:solidFill>
                <a:latin typeface="Calibri" pitchFamily="34" charset="0"/>
                <a:ea typeface="Calibri" pitchFamily="34" charset="-122"/>
                <a:cs typeface="Calibri" pitchFamily="34" charset="-120"/>
              </a:rPr>
              <a:t>Finds relevant information from stored document chunks.</a:t>
            </a:r>
            <a:endParaRPr lang="en-US" sz="1250"/>
          </a:p>
        </p:txBody>
      </p:sp>
      <p:sp>
        <p:nvSpPr>
          <p:cNvPr id="27" name="Shape 25"/>
          <p:cNvSpPr/>
          <p:nvPr/>
        </p:nvSpPr>
        <p:spPr>
          <a:xfrm>
            <a:off x="6309360" y="3246120"/>
            <a:ext cx="5394960" cy="1371600"/>
          </a:xfrm>
          <a:prstGeom prst="roundRect">
            <a:avLst>
              <a:gd name="adj" fmla="val 4667"/>
            </a:avLst>
          </a:prstGeom>
          <a:solidFill>
            <a:srgbClr val="1B2352"/>
          </a:solidFill>
          <a:ln w="9525">
            <a:solidFill>
              <a:srgbClr val="2A356E"/>
            </a:solidFill>
            <a:prstDash val="solid"/>
          </a:ln>
        </p:spPr>
      </p:sp>
      <p:sp>
        <p:nvSpPr>
          <p:cNvPr id="28" name="Text 26"/>
          <p:cNvSpPr txBox="1"/>
          <p:nvPr/>
        </p:nvSpPr>
        <p:spPr>
          <a:xfrm>
            <a:off x="6537960" y="3355848"/>
            <a:ext cx="4937760" cy="274320"/>
          </a:xfrm>
          <a:prstGeom prst="rect">
            <a:avLst/>
          </a:prstGeom>
          <a:noFill/>
          <a:ln/>
        </p:spPr>
        <p:txBody>
          <a:bodyPr wrap="square" lIns="0" tIns="0" rIns="0" bIns="0" rtlCol="0" anchor="ctr"/>
          <a:lstStyle/>
          <a:p>
            <a:pPr marL="0" indent="0">
              <a:buNone/>
            </a:pPr>
            <a:r>
              <a:rPr lang="en-US" sz="1400" b="1">
                <a:solidFill>
                  <a:srgbClr val="00C2A8"/>
                </a:solidFill>
                <a:latin typeface="Cambria" pitchFamily="34" charset="0"/>
                <a:ea typeface="Cambria" pitchFamily="34" charset="-122"/>
                <a:cs typeface="Cambria" pitchFamily="34" charset="-120"/>
              </a:rPr>
              <a:t>Generation</a:t>
            </a:r>
            <a:endParaRPr lang="en-US" sz="1400"/>
          </a:p>
        </p:txBody>
      </p:sp>
      <p:sp>
        <p:nvSpPr>
          <p:cNvPr id="29" name="Text 27"/>
          <p:cNvSpPr txBox="1"/>
          <p:nvPr/>
        </p:nvSpPr>
        <p:spPr>
          <a:xfrm>
            <a:off x="6537960" y="3703320"/>
            <a:ext cx="4937760" cy="822960"/>
          </a:xfrm>
          <a:prstGeom prst="rect">
            <a:avLst/>
          </a:prstGeom>
          <a:noFill/>
          <a:ln/>
        </p:spPr>
        <p:txBody>
          <a:bodyPr wrap="square" lIns="0" tIns="0" rIns="0" bIns="0" rtlCol="0" anchor="ctr"/>
          <a:lstStyle/>
          <a:p>
            <a:pPr marL="0" indent="0">
              <a:buNone/>
            </a:pPr>
            <a:r>
              <a:rPr lang="en-US" sz="1250">
                <a:solidFill>
                  <a:srgbClr val="CADCFC"/>
                </a:solidFill>
                <a:latin typeface="Calibri" pitchFamily="34" charset="0"/>
                <a:ea typeface="Calibri" pitchFamily="34" charset="-122"/>
                <a:cs typeface="Calibri" pitchFamily="34" charset="-120"/>
              </a:rPr>
              <a:t>Uses retrieved context to generate the natural-language answer.</a:t>
            </a:r>
            <a:endParaRPr lang="en-US" sz="1250"/>
          </a:p>
        </p:txBody>
      </p:sp>
      <p:sp>
        <p:nvSpPr>
          <p:cNvPr id="30" name="Text 28"/>
          <p:cNvSpPr txBox="1"/>
          <p:nvPr/>
        </p:nvSpPr>
        <p:spPr>
          <a:xfrm>
            <a:off x="457200" y="4892040"/>
            <a:ext cx="11274552" cy="457200"/>
          </a:xfrm>
          <a:prstGeom prst="rect">
            <a:avLst/>
          </a:prstGeom>
          <a:noFill/>
          <a:ln/>
        </p:spPr>
        <p:txBody>
          <a:bodyPr wrap="square" lIns="0" tIns="0" rIns="0" bIns="0" rtlCol="0" anchor="ctr"/>
          <a:lstStyle/>
          <a:p>
            <a:pPr marL="0" indent="0" algn="ctr">
              <a:buNone/>
            </a:pPr>
            <a:r>
              <a:rPr lang="en-US" sz="1800" b="1" i="1">
                <a:solidFill>
                  <a:srgbClr val="00C2A8"/>
                </a:solidFill>
                <a:latin typeface="Cambria" pitchFamily="34" charset="0"/>
                <a:ea typeface="Cambria" pitchFamily="34" charset="-122"/>
                <a:cs typeface="Cambria" pitchFamily="34" charset="-120"/>
              </a:rPr>
              <a:t>Retrieval supplies the knowledge; Gemini generates the answer.</a:t>
            </a:r>
            <a:endParaRPr lang="en-US" sz="1800"/>
          </a:p>
        </p:txBody>
      </p:sp>
      <p:sp>
        <p:nvSpPr>
          <p:cNvPr id="31" name="Text 29"/>
          <p:cNvSpPr txBox="1"/>
          <p:nvPr/>
        </p:nvSpPr>
        <p:spPr>
          <a:xfrm>
            <a:off x="457200" y="5440680"/>
            <a:ext cx="11274552" cy="457200"/>
          </a:xfrm>
          <a:prstGeom prst="rect">
            <a:avLst/>
          </a:prstGeom>
          <a:noFill/>
          <a:ln/>
        </p:spPr>
        <p:txBody>
          <a:bodyPr wrap="square" lIns="0" tIns="0" rIns="0" bIns="0" rtlCol="0" anchor="ctr"/>
          <a:lstStyle/>
          <a:p>
            <a:pPr marL="0" indent="0" algn="ctr">
              <a:buNone/>
            </a:pPr>
            <a:r>
              <a:rPr lang="en-US" sz="1250" i="1">
                <a:solidFill>
                  <a:srgbClr val="CADCFC"/>
                </a:solidFill>
                <a:latin typeface="Calibri" pitchFamily="34" charset="0"/>
                <a:ea typeface="Calibri" pitchFamily="34" charset="-122"/>
                <a:cs typeface="Calibri" pitchFamily="34" charset="-120"/>
              </a:rPr>
              <a:t>The prompt instructs Gemini to use only supplied context, avoid inventing facts, and say when information is unavailable.</a:t>
            </a:r>
            <a:endParaRPr lang="en-US" sz="12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TRACEABILITY</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Query history &amp; admin functionality</a:t>
            </a:r>
            <a:endParaRPr lang="en-US" sz="2700"/>
          </a:p>
        </p:txBody>
      </p:sp>
      <p:sp>
        <p:nvSpPr>
          <p:cNvPr id="4" name="Shape 2"/>
          <p:cNvSpPr/>
          <p:nvPr/>
        </p:nvSpPr>
        <p:spPr>
          <a:xfrm>
            <a:off x="457200" y="1554480"/>
            <a:ext cx="11274552" cy="1371600"/>
          </a:xfrm>
          <a:prstGeom prst="roundRect">
            <a:avLst>
              <a:gd name="adj" fmla="val 4667"/>
            </a:avLst>
          </a:prstGeom>
          <a:solidFill>
            <a:srgbClr val="F4F7FC"/>
          </a:solidFill>
          <a:ln w="9525">
            <a:solidFill>
              <a:srgbClr val="D9DFEE"/>
            </a:solidFill>
            <a:prstDash val="solid"/>
          </a:ln>
        </p:spPr>
      </p:sp>
      <p:sp>
        <p:nvSpPr>
          <p:cNvPr id="5" name="Text 3"/>
          <p:cNvSpPr txBox="1"/>
          <p:nvPr/>
        </p:nvSpPr>
        <p:spPr>
          <a:xfrm>
            <a:off x="731520" y="1691640"/>
            <a:ext cx="3657600" cy="274320"/>
          </a:xfrm>
          <a:prstGeom prst="rect">
            <a:avLst/>
          </a:prstGeom>
          <a:noFill/>
          <a:ln/>
        </p:spPr>
        <p:txBody>
          <a:bodyPr wrap="square" lIns="0" tIns="0" rIns="0" bIns="0" rtlCol="0" anchor="ctr"/>
          <a:lstStyle/>
          <a:p>
            <a:pPr marL="0" indent="0">
              <a:buNone/>
            </a:pPr>
            <a:r>
              <a:rPr lang="en-US" sz="1350" b="1">
                <a:solidFill>
                  <a:srgbClr val="1E2761"/>
                </a:solidFill>
                <a:latin typeface="Cambria" pitchFamily="34" charset="0"/>
                <a:ea typeface="Cambria" pitchFamily="34" charset="-122"/>
                <a:cs typeface="Cambria" pitchFamily="34" charset="-120"/>
              </a:rPr>
              <a:t>Every query record stores:</a:t>
            </a:r>
            <a:endParaRPr lang="en-US" sz="1350"/>
          </a:p>
        </p:txBody>
      </p:sp>
      <p:sp>
        <p:nvSpPr>
          <p:cNvPr id="6" name="Text 4"/>
          <p:cNvSpPr txBox="1"/>
          <p:nvPr/>
        </p:nvSpPr>
        <p:spPr>
          <a:xfrm>
            <a:off x="731520" y="2011680"/>
            <a:ext cx="10698480" cy="457200"/>
          </a:xfrm>
          <a:prstGeom prst="rect">
            <a:avLst/>
          </a:prstGeom>
          <a:noFill/>
          <a:ln/>
        </p:spPr>
        <p:txBody>
          <a:bodyPr wrap="square" lIns="0" tIns="0" rIns="0" bIns="0" rtlCol="0" anchor="ctr"/>
          <a:lstStyle/>
          <a:p>
            <a:pPr marL="0" indent="0">
              <a:buNone/>
            </a:pPr>
            <a:r>
              <a:rPr lang="en-US" sz="1350">
                <a:solidFill>
                  <a:srgbClr val="1A2036"/>
                </a:solidFill>
                <a:latin typeface="Calibri" pitchFamily="34" charset="0"/>
                <a:ea typeface="Calibri" pitchFamily="34" charset="-122"/>
                <a:cs typeface="Calibri" pitchFamily="34" charset="-120"/>
              </a:rPr>
              <a:t>User · Query · Answer · Grounded status · Created time · Response time · Sources · Relevance scores</a:t>
            </a:r>
            <a:endParaRPr lang="en-US" sz="1350"/>
          </a:p>
        </p:txBody>
      </p:sp>
      <p:sp>
        <p:nvSpPr>
          <p:cNvPr id="7" name="Text 5"/>
          <p:cNvSpPr txBox="1"/>
          <p:nvPr/>
        </p:nvSpPr>
        <p:spPr>
          <a:xfrm>
            <a:off x="731520" y="2487168"/>
            <a:ext cx="10698480" cy="365760"/>
          </a:xfrm>
          <a:prstGeom prst="rect">
            <a:avLst/>
          </a:prstGeom>
          <a:noFill/>
          <a:ln/>
        </p:spPr>
        <p:txBody>
          <a:bodyPr wrap="square" lIns="0" tIns="0" rIns="0" bIns="0" rtlCol="0" anchor="ctr"/>
          <a:lstStyle/>
          <a:p>
            <a:pPr marL="0" indent="0">
              <a:buNone/>
            </a:pPr>
            <a:r>
              <a:rPr lang="en-US" sz="1150" i="1">
                <a:solidFill>
                  <a:srgbClr val="5B6478"/>
                </a:solidFill>
                <a:latin typeface="Calibri" pitchFamily="34" charset="0"/>
                <a:ea typeface="Calibri" pitchFamily="34" charset="-122"/>
                <a:cs typeface="Calibri" pitchFamily="34" charset="-120"/>
              </a:rPr>
              <a:t>This means every answer can be traced back to the exact chunks that produced it — the full audit trail behind “source-backed answers.”</a:t>
            </a:r>
            <a:endParaRPr lang="en-US" sz="1150"/>
          </a:p>
        </p:txBody>
      </p:sp>
      <p:sp>
        <p:nvSpPr>
          <p:cNvPr id="8" name="Shape 6"/>
          <p:cNvSpPr/>
          <p:nvPr/>
        </p:nvSpPr>
        <p:spPr>
          <a:xfrm>
            <a:off x="457200" y="3200400"/>
            <a:ext cx="3611880" cy="1691640"/>
          </a:xfrm>
          <a:prstGeom prst="roundRect">
            <a:avLst>
              <a:gd name="adj" fmla="val 3784"/>
            </a:avLst>
          </a:prstGeom>
          <a:solidFill>
            <a:srgbClr val="F4F7FC"/>
          </a:solidFill>
          <a:ln w="9525">
            <a:solidFill>
              <a:srgbClr val="D9DFEE"/>
            </a:solidFill>
            <a:prstDash val="solid"/>
          </a:ln>
        </p:spPr>
      </p:sp>
      <p:sp>
        <p:nvSpPr>
          <p:cNvPr id="9" name="Text 7"/>
          <p:cNvSpPr txBox="1"/>
          <p:nvPr/>
        </p:nvSpPr>
        <p:spPr>
          <a:xfrm>
            <a:off x="685800" y="3401568"/>
            <a:ext cx="3154680" cy="365760"/>
          </a:xfrm>
          <a:prstGeom prst="rect">
            <a:avLst/>
          </a:prstGeom>
          <a:noFill/>
          <a:ln/>
        </p:spPr>
        <p:txBody>
          <a:bodyPr wrap="square" lIns="0" tIns="0" rIns="0" bIns="0" rtlCol="0" anchor="ctr"/>
          <a:lstStyle/>
          <a:p>
            <a:pPr marL="0" indent="0">
              <a:buNone/>
            </a:pPr>
            <a:r>
              <a:rPr lang="en-US" sz="1400" b="1">
                <a:solidFill>
                  <a:srgbClr val="1E2761"/>
                </a:solidFill>
                <a:latin typeface="Cambria" pitchFamily="34" charset="0"/>
                <a:ea typeface="Cambria" pitchFamily="34" charset="-122"/>
                <a:cs typeface="Cambria" pitchFamily="34" charset="-120"/>
              </a:rPr>
              <a:t>Users &amp; Documents</a:t>
            </a:r>
            <a:endParaRPr lang="en-US" sz="1400"/>
          </a:p>
        </p:txBody>
      </p:sp>
      <p:sp>
        <p:nvSpPr>
          <p:cNvPr id="10" name="Text 8"/>
          <p:cNvSpPr txBox="1"/>
          <p:nvPr/>
        </p:nvSpPr>
        <p:spPr>
          <a:xfrm>
            <a:off x="685800" y="3886200"/>
            <a:ext cx="3154680" cy="82296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View, page, filter, upload, and delete</a:t>
            </a:r>
            <a:endParaRPr lang="en-US" sz="1250"/>
          </a:p>
        </p:txBody>
      </p:sp>
      <p:sp>
        <p:nvSpPr>
          <p:cNvPr id="11" name="Shape 9"/>
          <p:cNvSpPr/>
          <p:nvPr/>
        </p:nvSpPr>
        <p:spPr>
          <a:xfrm>
            <a:off x="4288536" y="3200400"/>
            <a:ext cx="3611880" cy="1691640"/>
          </a:xfrm>
          <a:prstGeom prst="roundRect">
            <a:avLst>
              <a:gd name="adj" fmla="val 3784"/>
            </a:avLst>
          </a:prstGeom>
          <a:solidFill>
            <a:srgbClr val="F4F7FC"/>
          </a:solidFill>
          <a:ln w="9525">
            <a:solidFill>
              <a:srgbClr val="D9DFEE"/>
            </a:solidFill>
            <a:prstDash val="solid"/>
          </a:ln>
        </p:spPr>
      </p:sp>
      <p:sp>
        <p:nvSpPr>
          <p:cNvPr id="12" name="Text 10"/>
          <p:cNvSpPr txBox="1"/>
          <p:nvPr/>
        </p:nvSpPr>
        <p:spPr>
          <a:xfrm>
            <a:off x="4517136" y="3401568"/>
            <a:ext cx="3154680" cy="365760"/>
          </a:xfrm>
          <a:prstGeom prst="rect">
            <a:avLst/>
          </a:prstGeom>
          <a:noFill/>
          <a:ln/>
        </p:spPr>
        <p:txBody>
          <a:bodyPr wrap="square" lIns="0" tIns="0" rIns="0" bIns="0" rtlCol="0" anchor="ctr"/>
          <a:lstStyle/>
          <a:p>
            <a:pPr marL="0" indent="0">
              <a:buNone/>
            </a:pPr>
            <a:r>
              <a:rPr lang="en-US" sz="1400" b="1">
                <a:solidFill>
                  <a:srgbClr val="1E2761"/>
                </a:solidFill>
                <a:latin typeface="Cambria" pitchFamily="34" charset="0"/>
                <a:ea typeface="Cambria" pitchFamily="34" charset="-122"/>
                <a:cs typeface="Cambria" pitchFamily="34" charset="-120"/>
              </a:rPr>
              <a:t>Admin Query</a:t>
            </a:r>
            <a:endParaRPr lang="en-US" sz="1400"/>
          </a:p>
        </p:txBody>
      </p:sp>
      <p:sp>
        <p:nvSpPr>
          <p:cNvPr id="13" name="Text 11"/>
          <p:cNvSpPr txBox="1"/>
          <p:nvPr/>
        </p:nvSpPr>
        <p:spPr>
          <a:xfrm>
            <a:off x="4517136" y="3886200"/>
            <a:ext cx="3154680" cy="82296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Ask, set Top-K, view sources &amp; scores</a:t>
            </a:r>
            <a:endParaRPr lang="en-US" sz="1250"/>
          </a:p>
        </p:txBody>
      </p:sp>
      <p:sp>
        <p:nvSpPr>
          <p:cNvPr id="14" name="Shape 12"/>
          <p:cNvSpPr/>
          <p:nvPr/>
        </p:nvSpPr>
        <p:spPr>
          <a:xfrm>
            <a:off x="8119872" y="3200400"/>
            <a:ext cx="3611880" cy="1691640"/>
          </a:xfrm>
          <a:prstGeom prst="roundRect">
            <a:avLst>
              <a:gd name="adj" fmla="val 3784"/>
            </a:avLst>
          </a:prstGeom>
          <a:solidFill>
            <a:srgbClr val="F4F7FC"/>
          </a:solidFill>
          <a:ln w="9525">
            <a:solidFill>
              <a:srgbClr val="D9DFEE"/>
            </a:solidFill>
            <a:prstDash val="solid"/>
          </a:ln>
        </p:spPr>
      </p:sp>
      <p:sp>
        <p:nvSpPr>
          <p:cNvPr id="15" name="Text 13"/>
          <p:cNvSpPr txBox="1"/>
          <p:nvPr/>
        </p:nvSpPr>
        <p:spPr>
          <a:xfrm>
            <a:off x="8348472" y="3401568"/>
            <a:ext cx="3154680" cy="365760"/>
          </a:xfrm>
          <a:prstGeom prst="rect">
            <a:avLst/>
          </a:prstGeom>
          <a:noFill/>
          <a:ln/>
        </p:spPr>
        <p:txBody>
          <a:bodyPr wrap="square" lIns="0" tIns="0" rIns="0" bIns="0" rtlCol="0" anchor="ctr"/>
          <a:lstStyle/>
          <a:p>
            <a:pPr marL="0" indent="0">
              <a:buNone/>
            </a:pPr>
            <a:r>
              <a:rPr lang="en-US" sz="1400" b="1">
                <a:solidFill>
                  <a:srgbClr val="1E2761"/>
                </a:solidFill>
                <a:latin typeface="Cambria" pitchFamily="34" charset="0"/>
                <a:ea typeface="Cambria" pitchFamily="34" charset="-122"/>
                <a:cs typeface="Cambria" pitchFamily="34" charset="-120"/>
              </a:rPr>
              <a:t>Query History</a:t>
            </a:r>
            <a:endParaRPr lang="en-US" sz="1400"/>
          </a:p>
        </p:txBody>
      </p:sp>
      <p:sp>
        <p:nvSpPr>
          <p:cNvPr id="16" name="Text 14"/>
          <p:cNvSpPr txBox="1"/>
          <p:nvPr/>
        </p:nvSpPr>
        <p:spPr>
          <a:xfrm>
            <a:off x="8348472" y="3886200"/>
            <a:ext cx="3154680" cy="822960"/>
          </a:xfrm>
          <a:prstGeom prst="rect">
            <a:avLst/>
          </a:prstGeom>
          <a:noFill/>
          <a:ln/>
        </p:spPr>
        <p:txBody>
          <a:bodyPr wrap="square" lIns="0" tIns="0" rIns="0" bIns="0" rtlCol="0" anchor="ctr"/>
          <a:lstStyle/>
          <a:p>
            <a:pPr marL="0" indent="0">
              <a:buNone/>
            </a:pPr>
            <a:r>
              <a:rPr lang="en-US" sz="1250">
                <a:solidFill>
                  <a:srgbClr val="1A2036"/>
                </a:solidFill>
                <a:latin typeface="Calibri" pitchFamily="34" charset="0"/>
                <a:ea typeface="Calibri" pitchFamily="34" charset="-122"/>
                <a:cs typeface="Calibri" pitchFamily="34" charset="-120"/>
              </a:rPr>
              <a:t>View, page, search, drill into detail</a:t>
            </a:r>
            <a:endParaRPr lang="en-US" sz="1250"/>
          </a:p>
        </p:txBody>
      </p:sp>
      <p:sp>
        <p:nvSpPr>
          <p:cNvPr id="17" name="Shape 15"/>
          <p:cNvSpPr/>
          <p:nvPr/>
        </p:nvSpPr>
        <p:spPr>
          <a:xfrm>
            <a:off x="457200" y="5166360"/>
            <a:ext cx="11274552" cy="1051560"/>
          </a:xfrm>
          <a:prstGeom prst="roundRect">
            <a:avLst>
              <a:gd name="adj" fmla="val 6087"/>
            </a:avLst>
          </a:prstGeom>
          <a:solidFill>
            <a:srgbClr val="1E2761"/>
          </a:solidFill>
          <a:ln/>
        </p:spPr>
      </p:sp>
      <p:sp>
        <p:nvSpPr>
          <p:cNvPr id="18" name="Text 16"/>
          <p:cNvSpPr txBox="1"/>
          <p:nvPr/>
        </p:nvSpPr>
        <p:spPr>
          <a:xfrm>
            <a:off x="731520" y="5166360"/>
            <a:ext cx="10698480" cy="105156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Full admin CRUD is available in the final UI — including delete controls for both users and documents.</a:t>
            </a:r>
            <a:endParaRPr 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API &amp; DATA</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Admin API surface &amp; database model</a:t>
            </a:r>
            <a:endParaRPr lang="en-US" sz="2700"/>
          </a:p>
        </p:txBody>
      </p:sp>
      <p:sp>
        <p:nvSpPr>
          <p:cNvPr id="4" name="Shape 2"/>
          <p:cNvSpPr/>
          <p:nvPr/>
        </p:nvSpPr>
        <p:spPr>
          <a:xfrm>
            <a:off x="457200" y="1554480"/>
            <a:ext cx="5577840" cy="3063240"/>
          </a:xfrm>
          <a:prstGeom prst="roundRect">
            <a:avLst>
              <a:gd name="adj" fmla="val 2090"/>
            </a:avLst>
          </a:prstGeom>
          <a:solidFill>
            <a:srgbClr val="F4F7FC"/>
          </a:solidFill>
          <a:ln w="9525">
            <a:solidFill>
              <a:srgbClr val="D9DFEE"/>
            </a:solidFill>
            <a:prstDash val="solid"/>
          </a:ln>
        </p:spPr>
      </p:sp>
      <p:sp>
        <p:nvSpPr>
          <p:cNvPr id="5" name="Text 3"/>
          <p:cNvSpPr txBox="1"/>
          <p:nvPr/>
        </p:nvSpPr>
        <p:spPr>
          <a:xfrm>
            <a:off x="685800" y="1691640"/>
            <a:ext cx="5120640" cy="274320"/>
          </a:xfrm>
          <a:prstGeom prst="rect">
            <a:avLst/>
          </a:prstGeom>
          <a:noFill/>
          <a:ln/>
        </p:spPr>
        <p:txBody>
          <a:bodyPr wrap="square" lIns="0" tIns="0" rIns="0" bIns="0" rtlCol="0" anchor="ctr"/>
          <a:lstStyle/>
          <a:p>
            <a:pPr marL="0" indent="0">
              <a:buNone/>
            </a:pPr>
            <a:r>
              <a:rPr lang="en-US" sz="1350" b="1">
                <a:solidFill>
                  <a:srgbClr val="1E2761"/>
                </a:solidFill>
                <a:latin typeface="Cambria" pitchFamily="34" charset="0"/>
                <a:ea typeface="Cambria" pitchFamily="34" charset="-122"/>
                <a:cs typeface="Cambria" pitchFamily="34" charset="-120"/>
              </a:rPr>
              <a:t>Admin API (all require Admin role)</a:t>
            </a:r>
            <a:endParaRPr lang="en-US" sz="1350"/>
          </a:p>
        </p:txBody>
      </p:sp>
      <p:sp>
        <p:nvSpPr>
          <p:cNvPr id="6" name="Text 4"/>
          <p:cNvSpPr txBox="1"/>
          <p:nvPr/>
        </p:nvSpPr>
        <p:spPr>
          <a:xfrm>
            <a:off x="685800" y="2057400"/>
            <a:ext cx="5120640" cy="365760"/>
          </a:xfrm>
          <a:prstGeom prst="rect">
            <a:avLst/>
          </a:prstGeom>
          <a:noFill/>
          <a:ln/>
        </p:spPr>
        <p:txBody>
          <a:bodyPr wrap="square" lIns="0" tIns="0" rIns="0" bIns="0" rtlCol="0" anchor="ctr"/>
          <a:lstStyle/>
          <a:p>
            <a:pPr marL="0" indent="0">
              <a:buNone/>
            </a:pPr>
            <a:r>
              <a:rPr lang="en-US" sz="1250" b="1">
                <a:solidFill>
                  <a:srgbClr val="1E2761"/>
                </a:solidFill>
                <a:latin typeface="Calibri" pitchFamily="34" charset="0"/>
                <a:ea typeface="Calibri" pitchFamily="34" charset="-122"/>
                <a:cs typeface="Calibri" pitchFamily="34" charset="-120"/>
              </a:rPr>
              <a:t>Users  </a:t>
            </a:r>
            <a:r>
              <a:rPr lang="en-US" sz="1250">
                <a:solidFill>
                  <a:srgbClr val="1A2036"/>
                </a:solidFill>
                <a:latin typeface="Courier New" pitchFamily="34" charset="0"/>
                <a:ea typeface="Courier New" pitchFamily="34" charset="-122"/>
                <a:cs typeface="Courier New" pitchFamily="34" charset="-120"/>
              </a:rPr>
              <a:t>GET, DELETE /admin/users</a:t>
            </a:r>
            <a:endParaRPr lang="en-US" sz="1250"/>
          </a:p>
        </p:txBody>
      </p:sp>
      <p:sp>
        <p:nvSpPr>
          <p:cNvPr id="7" name="Text 5"/>
          <p:cNvSpPr txBox="1"/>
          <p:nvPr/>
        </p:nvSpPr>
        <p:spPr>
          <a:xfrm>
            <a:off x="685800" y="2560320"/>
            <a:ext cx="5120640" cy="365760"/>
          </a:xfrm>
          <a:prstGeom prst="rect">
            <a:avLst/>
          </a:prstGeom>
          <a:noFill/>
          <a:ln/>
        </p:spPr>
        <p:txBody>
          <a:bodyPr wrap="square" lIns="0" tIns="0" rIns="0" bIns="0" rtlCol="0" anchor="ctr"/>
          <a:lstStyle/>
          <a:p>
            <a:pPr marL="0" indent="0">
              <a:buNone/>
            </a:pPr>
            <a:r>
              <a:rPr lang="en-US" sz="1250" b="1">
                <a:solidFill>
                  <a:srgbClr val="1E2761"/>
                </a:solidFill>
                <a:latin typeface="Calibri" pitchFamily="34" charset="0"/>
                <a:ea typeface="Calibri" pitchFamily="34" charset="-122"/>
                <a:cs typeface="Calibri" pitchFamily="34" charset="-120"/>
              </a:rPr>
              <a:t>Documents  </a:t>
            </a:r>
            <a:r>
              <a:rPr lang="en-US" sz="1250">
                <a:solidFill>
                  <a:srgbClr val="1A2036"/>
                </a:solidFill>
                <a:latin typeface="Courier New" pitchFamily="34" charset="0"/>
                <a:ea typeface="Courier New" pitchFamily="34" charset="-122"/>
                <a:cs typeface="Courier New" pitchFamily="34" charset="-120"/>
              </a:rPr>
              <a:t>GET, POST, DELETE /admin/documents</a:t>
            </a:r>
            <a:endParaRPr lang="en-US" sz="1250"/>
          </a:p>
        </p:txBody>
      </p:sp>
      <p:sp>
        <p:nvSpPr>
          <p:cNvPr id="8" name="Text 6"/>
          <p:cNvSpPr txBox="1"/>
          <p:nvPr/>
        </p:nvSpPr>
        <p:spPr>
          <a:xfrm>
            <a:off x="685800" y="3063240"/>
            <a:ext cx="5120640" cy="365760"/>
          </a:xfrm>
          <a:prstGeom prst="rect">
            <a:avLst/>
          </a:prstGeom>
          <a:noFill/>
          <a:ln/>
        </p:spPr>
        <p:txBody>
          <a:bodyPr wrap="square" lIns="0" tIns="0" rIns="0" bIns="0" rtlCol="0" anchor="ctr"/>
          <a:lstStyle/>
          <a:p>
            <a:pPr marL="0" indent="0">
              <a:buNone/>
            </a:pPr>
            <a:r>
              <a:rPr lang="en-US" sz="1250" b="1">
                <a:solidFill>
                  <a:srgbClr val="1E2761"/>
                </a:solidFill>
                <a:latin typeface="Calibri" pitchFamily="34" charset="0"/>
                <a:ea typeface="Calibri" pitchFamily="34" charset="-122"/>
                <a:cs typeface="Calibri" pitchFamily="34" charset="-120"/>
              </a:rPr>
              <a:t>Query  </a:t>
            </a:r>
            <a:r>
              <a:rPr lang="en-US" sz="1250">
                <a:solidFill>
                  <a:srgbClr val="1A2036"/>
                </a:solidFill>
                <a:latin typeface="Courier New" pitchFamily="34" charset="0"/>
                <a:ea typeface="Courier New" pitchFamily="34" charset="-122"/>
                <a:cs typeface="Courier New" pitchFamily="34" charset="-120"/>
              </a:rPr>
              <a:t>POST /admin/query</a:t>
            </a:r>
            <a:endParaRPr lang="en-US" sz="1250"/>
          </a:p>
        </p:txBody>
      </p:sp>
      <p:sp>
        <p:nvSpPr>
          <p:cNvPr id="9" name="Text 7"/>
          <p:cNvSpPr txBox="1"/>
          <p:nvPr/>
        </p:nvSpPr>
        <p:spPr>
          <a:xfrm>
            <a:off x="685800" y="3566160"/>
            <a:ext cx="5120640" cy="365760"/>
          </a:xfrm>
          <a:prstGeom prst="rect">
            <a:avLst/>
          </a:prstGeom>
          <a:noFill/>
          <a:ln/>
        </p:spPr>
        <p:txBody>
          <a:bodyPr wrap="square" lIns="0" tIns="0" rIns="0" bIns="0" rtlCol="0" anchor="ctr"/>
          <a:lstStyle/>
          <a:p>
            <a:pPr marL="0" indent="0">
              <a:buNone/>
            </a:pPr>
            <a:r>
              <a:rPr lang="en-US" sz="1250" b="1">
                <a:solidFill>
                  <a:srgbClr val="1E2761"/>
                </a:solidFill>
                <a:latin typeface="Calibri" pitchFamily="34" charset="0"/>
                <a:ea typeface="Calibri" pitchFamily="34" charset="-122"/>
                <a:cs typeface="Calibri" pitchFamily="34" charset="-120"/>
              </a:rPr>
              <a:t>History  </a:t>
            </a:r>
            <a:r>
              <a:rPr lang="en-US" sz="1250">
                <a:solidFill>
                  <a:srgbClr val="1A2036"/>
                </a:solidFill>
                <a:latin typeface="Courier New" pitchFamily="34" charset="0"/>
                <a:ea typeface="Courier New" pitchFamily="34" charset="-122"/>
                <a:cs typeface="Courier New" pitchFamily="34" charset="-120"/>
              </a:rPr>
              <a:t>GET /admin/query-history</a:t>
            </a:r>
            <a:endParaRPr lang="en-US" sz="1250"/>
          </a:p>
        </p:txBody>
      </p:sp>
      <p:sp>
        <p:nvSpPr>
          <p:cNvPr id="10" name="Text 8"/>
          <p:cNvSpPr txBox="1"/>
          <p:nvPr/>
        </p:nvSpPr>
        <p:spPr>
          <a:xfrm>
            <a:off x="685800" y="4160520"/>
            <a:ext cx="5120640" cy="384048"/>
          </a:xfrm>
          <a:prstGeom prst="rect">
            <a:avLst/>
          </a:prstGeom>
          <a:noFill/>
          <a:ln/>
        </p:spPr>
        <p:txBody>
          <a:bodyPr wrap="square" lIns="0" tIns="0" rIns="0" bIns="0" rtlCol="0" anchor="ctr"/>
          <a:lstStyle/>
          <a:p>
            <a:pPr marL="0" indent="0">
              <a:buNone/>
            </a:pPr>
            <a:r>
              <a:rPr lang="en-US" sz="1100" i="1">
                <a:solidFill>
                  <a:srgbClr val="5B6478"/>
                </a:solidFill>
                <a:latin typeface="Calibri" pitchFamily="34" charset="0"/>
                <a:ea typeface="Calibri" pitchFamily="34" charset="-122"/>
                <a:cs typeface="Calibri" pitchFamily="34" charset="-120"/>
              </a:rPr>
              <a:t>Every endpoint below is fully wired into the demonstrated admin frontend.</a:t>
            </a:r>
            <a:endParaRPr lang="en-US" sz="1100"/>
          </a:p>
        </p:txBody>
      </p:sp>
      <p:sp>
        <p:nvSpPr>
          <p:cNvPr id="11" name="Shape 9"/>
          <p:cNvSpPr/>
          <p:nvPr/>
        </p:nvSpPr>
        <p:spPr>
          <a:xfrm>
            <a:off x="6263640" y="1554480"/>
            <a:ext cx="5468112" cy="3063240"/>
          </a:xfrm>
          <a:prstGeom prst="roundRect">
            <a:avLst>
              <a:gd name="adj" fmla="val 2090"/>
            </a:avLst>
          </a:prstGeom>
          <a:solidFill>
            <a:srgbClr val="F4F7FC"/>
          </a:solidFill>
          <a:ln w="9525">
            <a:solidFill>
              <a:srgbClr val="D9DFEE"/>
            </a:solidFill>
            <a:prstDash val="solid"/>
          </a:ln>
        </p:spPr>
      </p:sp>
      <p:sp>
        <p:nvSpPr>
          <p:cNvPr id="12" name="Text 10"/>
          <p:cNvSpPr txBox="1"/>
          <p:nvPr/>
        </p:nvSpPr>
        <p:spPr>
          <a:xfrm>
            <a:off x="6492240" y="1691640"/>
            <a:ext cx="5010912" cy="274320"/>
          </a:xfrm>
          <a:prstGeom prst="rect">
            <a:avLst/>
          </a:prstGeom>
          <a:noFill/>
          <a:ln/>
        </p:spPr>
        <p:txBody>
          <a:bodyPr wrap="square" lIns="0" tIns="0" rIns="0" bIns="0" rtlCol="0" anchor="ctr"/>
          <a:lstStyle/>
          <a:p>
            <a:pPr marL="0" indent="0">
              <a:buNone/>
            </a:pPr>
            <a:r>
              <a:rPr lang="en-US" sz="1350" b="1">
                <a:solidFill>
                  <a:srgbClr val="1E2761"/>
                </a:solidFill>
                <a:latin typeface="Cambria" pitchFamily="34" charset="0"/>
                <a:ea typeface="Cambria" pitchFamily="34" charset="-122"/>
                <a:cs typeface="Cambria" pitchFamily="34" charset="-120"/>
              </a:rPr>
              <a:t>Database chains</a:t>
            </a:r>
            <a:endParaRPr lang="en-US" sz="1350"/>
          </a:p>
        </p:txBody>
      </p:sp>
      <p:sp>
        <p:nvSpPr>
          <p:cNvPr id="13" name="Text 11"/>
          <p:cNvSpPr txBox="1"/>
          <p:nvPr/>
        </p:nvSpPr>
        <p:spPr>
          <a:xfrm>
            <a:off x="6492240" y="2103120"/>
            <a:ext cx="5010912" cy="365760"/>
          </a:xfrm>
          <a:prstGeom prst="rect">
            <a:avLst/>
          </a:prstGeom>
          <a:noFill/>
          <a:ln/>
        </p:spPr>
        <p:txBody>
          <a:bodyPr wrap="square" lIns="0" tIns="0" rIns="0" bIns="0" rtlCol="0" anchor="ctr"/>
          <a:lstStyle/>
          <a:p>
            <a:pPr marL="0" indent="0">
              <a:buNone/>
            </a:pPr>
            <a:r>
              <a:rPr lang="en-US" sz="1200">
                <a:solidFill>
                  <a:srgbClr val="141B47"/>
                </a:solidFill>
                <a:latin typeface="Courier New" pitchFamily="34" charset="0"/>
                <a:ea typeface="Courier New" pitchFamily="34" charset="-122"/>
                <a:cs typeface="Courier New" pitchFamily="34" charset="-120"/>
              </a:rPr>
              <a:t>User → Document → DocumentChunk → Embedding</a:t>
            </a:r>
            <a:endParaRPr lang="en-US" sz="1200"/>
          </a:p>
        </p:txBody>
      </p:sp>
      <p:sp>
        <p:nvSpPr>
          <p:cNvPr id="14" name="Text 12"/>
          <p:cNvSpPr txBox="1"/>
          <p:nvPr/>
        </p:nvSpPr>
        <p:spPr>
          <a:xfrm>
            <a:off x="6492240" y="2560320"/>
            <a:ext cx="5010912" cy="365760"/>
          </a:xfrm>
          <a:prstGeom prst="rect">
            <a:avLst/>
          </a:prstGeom>
          <a:noFill/>
          <a:ln/>
        </p:spPr>
        <p:txBody>
          <a:bodyPr wrap="square" lIns="0" tIns="0" rIns="0" bIns="0" rtlCol="0" anchor="ctr"/>
          <a:lstStyle/>
          <a:p>
            <a:pPr marL="0" indent="0">
              <a:buNone/>
            </a:pPr>
            <a:r>
              <a:rPr lang="en-US" sz="1200">
                <a:solidFill>
                  <a:srgbClr val="141B47"/>
                </a:solidFill>
                <a:latin typeface="Courier New" pitchFamily="34" charset="0"/>
                <a:ea typeface="Courier New" pitchFamily="34" charset="-122"/>
                <a:cs typeface="Courier New" pitchFamily="34" charset="-120"/>
              </a:rPr>
              <a:t>User → QueryHistory → QueryHistorySource → DocumentChunk</a:t>
            </a:r>
            <a:endParaRPr lang="en-US" sz="1200"/>
          </a:p>
        </p:txBody>
      </p:sp>
      <p:sp>
        <p:nvSpPr>
          <p:cNvPr id="15" name="Text 13"/>
          <p:cNvSpPr txBox="1"/>
          <p:nvPr/>
        </p:nvSpPr>
        <p:spPr>
          <a:xfrm>
            <a:off x="6492240" y="3017520"/>
            <a:ext cx="5010912" cy="1463040"/>
          </a:xfrm>
          <a:prstGeom prst="rect">
            <a:avLst/>
          </a:prstGeom>
          <a:noFill/>
          <a:ln/>
        </p:spPr>
        <p:txBody>
          <a:bodyPr wrap="square" lIns="0" tIns="0" rIns="0" bIns="0" rtlCol="0" anchor="t"/>
          <a:lstStyle/>
          <a:p>
            <a:pPr marL="342900" indent="-342900">
              <a:spcAft>
                <a:spcPts val="800"/>
              </a:spcAft>
              <a:buSzPct val="100000"/>
              <a:buChar char="•"/>
            </a:pPr>
            <a:r>
              <a:rPr lang="en-US" sz="1150">
                <a:solidFill>
                  <a:srgbClr val="1A2036"/>
                </a:solidFill>
                <a:latin typeface="Calibri" pitchFamily="34" charset="0"/>
                <a:ea typeface="Calibri" pitchFamily="34" charset="-122"/>
                <a:cs typeface="Calibri" pitchFamily="34" charset="-120"/>
              </a:rPr>
              <a:t>Chunk-level embeddings (not whole-document) let retrieval pinpoint the relevant passage</a:t>
            </a:r>
            <a:endParaRPr lang="en-US" sz="1150"/>
          </a:p>
          <a:p>
            <a:pPr marL="342900" indent="-342900">
              <a:spcAft>
                <a:spcPts val="800"/>
              </a:spcAft>
              <a:buSzPct val="100000"/>
              <a:buChar char="•"/>
            </a:pPr>
            <a:r>
              <a:rPr lang="en-US" sz="1150">
                <a:solidFill>
                  <a:srgbClr val="1A2036"/>
                </a:solidFill>
                <a:latin typeface="Calibri" pitchFamily="34" charset="0"/>
                <a:ea typeface="Calibri" pitchFamily="34" charset="-122"/>
                <a:cs typeface="Calibri" pitchFamily="34" charset="-120"/>
              </a:rPr>
              <a:t>Storing sources with query history preserves exactly which chunks produced each answer</a:t>
            </a:r>
            <a:endParaRPr lang="en-US" sz="1150"/>
          </a:p>
        </p:txBody>
      </p:sp>
      <p:sp>
        <p:nvSpPr>
          <p:cNvPr id="16" name="Shape 14"/>
          <p:cNvSpPr/>
          <p:nvPr/>
        </p:nvSpPr>
        <p:spPr>
          <a:xfrm>
            <a:off x="457200" y="4800600"/>
            <a:ext cx="11274552" cy="1600200"/>
          </a:xfrm>
          <a:prstGeom prst="roundRect">
            <a:avLst>
              <a:gd name="adj" fmla="val 4000"/>
            </a:avLst>
          </a:prstGeom>
          <a:solidFill>
            <a:srgbClr val="1E2761"/>
          </a:solidFill>
          <a:ln/>
        </p:spPr>
      </p:sp>
      <p:sp>
        <p:nvSpPr>
          <p:cNvPr id="17" name="Text 15"/>
          <p:cNvSpPr txBox="1"/>
          <p:nvPr/>
        </p:nvSpPr>
        <p:spPr>
          <a:xfrm>
            <a:off x="731520" y="4937760"/>
            <a:ext cx="4572000" cy="274320"/>
          </a:xfrm>
          <a:prstGeom prst="rect">
            <a:avLst/>
          </a:prstGeom>
          <a:noFill/>
          <a:ln/>
        </p:spPr>
        <p:txBody>
          <a:bodyPr wrap="square" lIns="0" tIns="0" rIns="0" bIns="0" rtlCol="0" anchor="ctr"/>
          <a:lstStyle/>
          <a:p>
            <a:pPr marL="0" indent="0">
              <a:buNone/>
            </a:pPr>
            <a:r>
              <a:rPr lang="en-US" sz="1350" b="1">
                <a:solidFill>
                  <a:srgbClr val="00C2A8"/>
                </a:solidFill>
                <a:latin typeface="Cambria" pitchFamily="34" charset="0"/>
                <a:ea typeface="Cambria" pitchFamily="34" charset="-122"/>
                <a:cs typeface="Cambria" pitchFamily="34" charset="-120"/>
              </a:rPr>
              <a:t>Testing snapshot</a:t>
            </a:r>
            <a:endParaRPr lang="en-US" sz="1350"/>
          </a:p>
        </p:txBody>
      </p:sp>
      <p:sp>
        <p:nvSpPr>
          <p:cNvPr id="18" name="Text 16"/>
          <p:cNvSpPr txBox="1"/>
          <p:nvPr/>
        </p:nvSpPr>
        <p:spPr>
          <a:xfrm>
            <a:off x="731520" y="5257800"/>
            <a:ext cx="5029200" cy="365760"/>
          </a:xfrm>
          <a:prstGeom prst="rect">
            <a:avLst/>
          </a:prstGeom>
          <a:noFill/>
          <a:ln/>
        </p:spPr>
        <p:txBody>
          <a:bodyPr wrap="square" lIns="0" tIns="0" rIns="0" bIns="0" rtlCol="0" anchor="ctr"/>
          <a:lstStyle/>
          <a:p>
            <a:pPr marL="0" indent="0">
              <a:buNone/>
            </a:pPr>
            <a:r>
              <a:rPr lang="en-US" sz="1700" b="1">
                <a:solidFill>
                  <a:srgbClr val="FFFFFF"/>
                </a:solidFill>
                <a:latin typeface="Cambria" pitchFamily="34" charset="0"/>
                <a:ea typeface="Cambria" pitchFamily="34" charset="-122"/>
                <a:cs typeface="Cambria" pitchFamily="34" charset="-120"/>
              </a:rPr>
              <a:t>187 tests · 187 passed · 0 failed</a:t>
            </a:r>
            <a:endParaRPr lang="en-US" sz="1700"/>
          </a:p>
        </p:txBody>
      </p:sp>
      <p:sp>
        <p:nvSpPr>
          <p:cNvPr id="19" name="Text 17"/>
          <p:cNvSpPr txBox="1"/>
          <p:nvPr/>
        </p:nvSpPr>
        <p:spPr>
          <a:xfrm>
            <a:off x="731520" y="5669280"/>
            <a:ext cx="5029200" cy="365760"/>
          </a:xfrm>
          <a:prstGeom prst="rect">
            <a:avLst/>
          </a:prstGeom>
          <a:noFill/>
          <a:ln/>
        </p:spPr>
        <p:txBody>
          <a:bodyPr wrap="square" lIns="0" tIns="0" rIns="0" bIns="0" rtlCol="0" anchor="ctr"/>
          <a:lstStyle/>
          <a:p>
            <a:pPr marL="0" indent="0">
              <a:buNone/>
            </a:pPr>
            <a:r>
              <a:rPr lang="en-US" sz="1050" i="1">
                <a:solidFill>
                  <a:srgbClr val="AEB8DA"/>
                </a:solidFill>
                <a:latin typeface="Calibri" pitchFamily="34" charset="0"/>
                <a:ea typeface="Calibri" pitchFamily="34" charset="-122"/>
                <a:cs typeface="Calibri" pitchFamily="34" charset="-120"/>
              </a:rPr>
              <a:t>Latest confirmed run during development.</a:t>
            </a:r>
            <a:endParaRPr lang="en-US" sz="1050"/>
          </a:p>
        </p:txBody>
      </p:sp>
      <p:sp>
        <p:nvSpPr>
          <p:cNvPr id="20" name="Text 18"/>
          <p:cNvSpPr txBox="1"/>
          <p:nvPr/>
        </p:nvSpPr>
        <p:spPr>
          <a:xfrm>
            <a:off x="6035040" y="4937760"/>
            <a:ext cx="5486400" cy="1371600"/>
          </a:xfrm>
          <a:prstGeom prst="rect">
            <a:avLst/>
          </a:prstGeom>
          <a:noFill/>
          <a:ln/>
        </p:spPr>
        <p:txBody>
          <a:bodyPr wrap="square" lIns="0" tIns="0" rIns="0" bIns="0" rtlCol="0" anchor="ctr"/>
          <a:lstStyle/>
          <a:p>
            <a:pPr marL="0" indent="0">
              <a:buNone/>
            </a:pPr>
            <a:r>
              <a:rPr lang="en-US" sz="1150">
                <a:solidFill>
                  <a:srgbClr val="CADCFC"/>
                </a:solidFill>
                <a:latin typeface="Calibri" pitchFamily="34" charset="0"/>
                <a:ea typeface="Calibri" pitchFamily="34" charset="-122"/>
                <a:cs typeface="Calibri" pitchFamily="34" charset="-120"/>
              </a:rPr>
              <a:t>Coverage: authentication, controllers, document services, admin functionality, retrieval &amp; RAG, validation, file storage, error handling.</a:t>
            </a:r>
            <a:endParaRPr lang="en-US" sz="11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1327030"/>
            <a:ext cx="11274552" cy="548640"/>
          </a:xfrm>
          <a:prstGeom prst="rect">
            <a:avLst/>
          </a:prstGeom>
          <a:noFill/>
          <a:ln/>
        </p:spPr>
        <p:txBody>
          <a:bodyPr wrap="square" lIns="0" tIns="0" rIns="0" bIns="0" rtlCol="0" anchor="ctr"/>
          <a:lstStyle/>
          <a:p>
            <a:pPr marL="0" indent="0">
              <a:buNone/>
            </a:pPr>
            <a:r>
              <a:rPr lang="en-US" sz="1400" i="1">
                <a:solidFill>
                  <a:srgbClr val="5B6478"/>
                </a:solidFill>
                <a:latin typeface="Calibri" pitchFamily="34" charset="0"/>
                <a:ea typeface="Calibri" pitchFamily="34" charset="-122"/>
                <a:cs typeface="Calibri" pitchFamily="34" charset="-120"/>
              </a:rPr>
              <a:t>Foundational architecture and auth first, then the document and processing pipeline, then retrieval and RAG, then the frontend, then admin, then hardening.</a:t>
            </a:r>
            <a:endParaRPr lang="en-US" sz="1400"/>
          </a:p>
        </p:txBody>
      </p:sp>
      <p:sp>
        <p:nvSpPr>
          <p:cNvPr id="5" name="Shape 3"/>
          <p:cNvSpPr/>
          <p:nvPr/>
        </p:nvSpPr>
        <p:spPr>
          <a:xfrm>
            <a:off x="911491" y="3223260"/>
            <a:ext cx="10365971" cy="0"/>
          </a:xfrm>
          <a:prstGeom prst="line">
            <a:avLst/>
          </a:prstGeom>
          <a:noFill/>
          <a:ln w="25400">
            <a:solidFill>
              <a:srgbClr val="D9DFEE"/>
            </a:solidFill>
            <a:prstDash val="solid"/>
          </a:ln>
        </p:spPr>
      </p:sp>
      <p:sp>
        <p:nvSpPr>
          <p:cNvPr id="6" name="Shape 4"/>
          <p:cNvSpPr/>
          <p:nvPr/>
        </p:nvSpPr>
        <p:spPr>
          <a:xfrm>
            <a:off x="710323" y="3022092"/>
            <a:ext cx="402336" cy="402336"/>
          </a:xfrm>
          <a:prstGeom prst="ellipse">
            <a:avLst/>
          </a:prstGeom>
          <a:solidFill>
            <a:srgbClr val="1E2761"/>
          </a:solidFill>
          <a:ln w="25400">
            <a:solidFill>
              <a:srgbClr val="FFFFFF"/>
            </a:solidFill>
            <a:prstDash val="solid"/>
          </a:ln>
        </p:spPr>
      </p:sp>
      <p:sp>
        <p:nvSpPr>
          <p:cNvPr id="7" name="Text 5"/>
          <p:cNvSpPr txBox="1"/>
          <p:nvPr/>
        </p:nvSpPr>
        <p:spPr>
          <a:xfrm>
            <a:off x="710323"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a:t>
            </a:r>
            <a:endParaRPr lang="en-US" sz="1100"/>
          </a:p>
        </p:txBody>
      </p:sp>
      <p:sp>
        <p:nvSpPr>
          <p:cNvPr id="8" name="Text 6"/>
          <p:cNvSpPr txBox="1"/>
          <p:nvPr/>
        </p:nvSpPr>
        <p:spPr>
          <a:xfrm>
            <a:off x="320040"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Architecture</a:t>
            </a:r>
            <a:endParaRPr lang="en-US" sz="950"/>
          </a:p>
        </p:txBody>
      </p:sp>
      <p:sp>
        <p:nvSpPr>
          <p:cNvPr id="9" name="Shape 7"/>
          <p:cNvSpPr/>
          <p:nvPr/>
        </p:nvSpPr>
        <p:spPr>
          <a:xfrm>
            <a:off x="1746920" y="3022092"/>
            <a:ext cx="402336" cy="402336"/>
          </a:xfrm>
          <a:prstGeom prst="ellipse">
            <a:avLst/>
          </a:prstGeom>
          <a:solidFill>
            <a:srgbClr val="1E2761"/>
          </a:solidFill>
          <a:ln w="25400">
            <a:solidFill>
              <a:srgbClr val="FFFFFF"/>
            </a:solidFill>
            <a:prstDash val="solid"/>
          </a:ln>
        </p:spPr>
      </p:sp>
      <p:sp>
        <p:nvSpPr>
          <p:cNvPr id="10" name="Text 8"/>
          <p:cNvSpPr txBox="1"/>
          <p:nvPr/>
        </p:nvSpPr>
        <p:spPr>
          <a:xfrm>
            <a:off x="1746920"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a:t>
            </a:r>
            <a:endParaRPr lang="en-US" sz="1100"/>
          </a:p>
        </p:txBody>
      </p:sp>
      <p:sp>
        <p:nvSpPr>
          <p:cNvPr id="11" name="Text 9"/>
          <p:cNvSpPr txBox="1"/>
          <p:nvPr/>
        </p:nvSpPr>
        <p:spPr>
          <a:xfrm>
            <a:off x="1356637"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Auth</a:t>
            </a:r>
            <a:endParaRPr lang="en-US" sz="950"/>
          </a:p>
        </p:txBody>
      </p:sp>
      <p:sp>
        <p:nvSpPr>
          <p:cNvPr id="12" name="Shape 10"/>
          <p:cNvSpPr/>
          <p:nvPr/>
        </p:nvSpPr>
        <p:spPr>
          <a:xfrm>
            <a:off x="2783517" y="3022092"/>
            <a:ext cx="402336" cy="402336"/>
          </a:xfrm>
          <a:prstGeom prst="ellipse">
            <a:avLst/>
          </a:prstGeom>
          <a:solidFill>
            <a:srgbClr val="1E2761"/>
          </a:solidFill>
          <a:ln w="25400">
            <a:solidFill>
              <a:srgbClr val="FFFFFF"/>
            </a:solidFill>
            <a:prstDash val="solid"/>
          </a:ln>
        </p:spPr>
      </p:sp>
      <p:sp>
        <p:nvSpPr>
          <p:cNvPr id="13" name="Text 11"/>
          <p:cNvSpPr txBox="1"/>
          <p:nvPr/>
        </p:nvSpPr>
        <p:spPr>
          <a:xfrm>
            <a:off x="2783517"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3</a:t>
            </a:r>
            <a:endParaRPr lang="en-US" sz="1100"/>
          </a:p>
        </p:txBody>
      </p:sp>
      <p:sp>
        <p:nvSpPr>
          <p:cNvPr id="14" name="Text 12"/>
          <p:cNvSpPr txBox="1"/>
          <p:nvPr/>
        </p:nvSpPr>
        <p:spPr>
          <a:xfrm>
            <a:off x="2393234"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Documents</a:t>
            </a:r>
            <a:endParaRPr lang="en-US" sz="950"/>
          </a:p>
        </p:txBody>
      </p:sp>
      <p:sp>
        <p:nvSpPr>
          <p:cNvPr id="15" name="Shape 13"/>
          <p:cNvSpPr/>
          <p:nvPr/>
        </p:nvSpPr>
        <p:spPr>
          <a:xfrm>
            <a:off x="3820114" y="3022092"/>
            <a:ext cx="402336" cy="402336"/>
          </a:xfrm>
          <a:prstGeom prst="ellipse">
            <a:avLst/>
          </a:prstGeom>
          <a:solidFill>
            <a:srgbClr val="1E2761"/>
          </a:solidFill>
          <a:ln w="25400">
            <a:solidFill>
              <a:srgbClr val="FFFFFF"/>
            </a:solidFill>
            <a:prstDash val="solid"/>
          </a:ln>
        </p:spPr>
      </p:sp>
      <p:sp>
        <p:nvSpPr>
          <p:cNvPr id="16" name="Text 14"/>
          <p:cNvSpPr txBox="1"/>
          <p:nvPr/>
        </p:nvSpPr>
        <p:spPr>
          <a:xfrm>
            <a:off x="3820114"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4</a:t>
            </a:r>
            <a:endParaRPr lang="en-US" sz="1100"/>
          </a:p>
        </p:txBody>
      </p:sp>
      <p:sp>
        <p:nvSpPr>
          <p:cNvPr id="17" name="Text 15"/>
          <p:cNvSpPr txBox="1"/>
          <p:nvPr/>
        </p:nvSpPr>
        <p:spPr>
          <a:xfrm>
            <a:off x="3429831"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Processing</a:t>
            </a:r>
            <a:endParaRPr lang="en-US" sz="950"/>
          </a:p>
        </p:txBody>
      </p:sp>
      <p:sp>
        <p:nvSpPr>
          <p:cNvPr id="18" name="Shape 16"/>
          <p:cNvSpPr/>
          <p:nvPr/>
        </p:nvSpPr>
        <p:spPr>
          <a:xfrm>
            <a:off x="4856711" y="3022092"/>
            <a:ext cx="402336" cy="402336"/>
          </a:xfrm>
          <a:prstGeom prst="ellipse">
            <a:avLst/>
          </a:prstGeom>
          <a:solidFill>
            <a:srgbClr val="1E2761"/>
          </a:solidFill>
          <a:ln w="25400">
            <a:solidFill>
              <a:srgbClr val="FFFFFF"/>
            </a:solidFill>
            <a:prstDash val="solid"/>
          </a:ln>
        </p:spPr>
      </p:sp>
      <p:sp>
        <p:nvSpPr>
          <p:cNvPr id="19" name="Text 17"/>
          <p:cNvSpPr txBox="1"/>
          <p:nvPr/>
        </p:nvSpPr>
        <p:spPr>
          <a:xfrm>
            <a:off x="4856711"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5</a:t>
            </a:r>
            <a:endParaRPr lang="en-US" sz="1100"/>
          </a:p>
        </p:txBody>
      </p:sp>
      <p:sp>
        <p:nvSpPr>
          <p:cNvPr id="20" name="Text 18"/>
          <p:cNvSpPr txBox="1"/>
          <p:nvPr/>
        </p:nvSpPr>
        <p:spPr>
          <a:xfrm>
            <a:off x="4466428"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Embeddings</a:t>
            </a:r>
            <a:endParaRPr lang="en-US" sz="950"/>
          </a:p>
        </p:txBody>
      </p:sp>
      <p:sp>
        <p:nvSpPr>
          <p:cNvPr id="21" name="Shape 19"/>
          <p:cNvSpPr/>
          <p:nvPr/>
        </p:nvSpPr>
        <p:spPr>
          <a:xfrm>
            <a:off x="5893308" y="3022092"/>
            <a:ext cx="402336" cy="402336"/>
          </a:xfrm>
          <a:prstGeom prst="ellipse">
            <a:avLst/>
          </a:prstGeom>
          <a:solidFill>
            <a:srgbClr val="1E2761"/>
          </a:solidFill>
          <a:ln w="25400">
            <a:solidFill>
              <a:srgbClr val="FFFFFF"/>
            </a:solidFill>
            <a:prstDash val="solid"/>
          </a:ln>
        </p:spPr>
      </p:sp>
      <p:sp>
        <p:nvSpPr>
          <p:cNvPr id="22" name="Text 20"/>
          <p:cNvSpPr txBox="1"/>
          <p:nvPr/>
        </p:nvSpPr>
        <p:spPr>
          <a:xfrm>
            <a:off x="5893308"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6</a:t>
            </a:r>
            <a:endParaRPr lang="en-US" sz="1100"/>
          </a:p>
        </p:txBody>
      </p:sp>
      <p:sp>
        <p:nvSpPr>
          <p:cNvPr id="23" name="Text 21"/>
          <p:cNvSpPr txBox="1"/>
          <p:nvPr/>
        </p:nvSpPr>
        <p:spPr>
          <a:xfrm>
            <a:off x="5503025"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Retrieval</a:t>
            </a:r>
            <a:endParaRPr lang="en-US" sz="950"/>
          </a:p>
        </p:txBody>
      </p:sp>
      <p:sp>
        <p:nvSpPr>
          <p:cNvPr id="24" name="Shape 22"/>
          <p:cNvSpPr/>
          <p:nvPr/>
        </p:nvSpPr>
        <p:spPr>
          <a:xfrm>
            <a:off x="6929905" y="3022092"/>
            <a:ext cx="402336" cy="402336"/>
          </a:xfrm>
          <a:prstGeom prst="ellipse">
            <a:avLst/>
          </a:prstGeom>
          <a:solidFill>
            <a:srgbClr val="1E2761"/>
          </a:solidFill>
          <a:ln w="25400">
            <a:solidFill>
              <a:srgbClr val="FFFFFF"/>
            </a:solidFill>
            <a:prstDash val="solid"/>
          </a:ln>
        </p:spPr>
      </p:sp>
      <p:sp>
        <p:nvSpPr>
          <p:cNvPr id="25" name="Text 23"/>
          <p:cNvSpPr txBox="1"/>
          <p:nvPr/>
        </p:nvSpPr>
        <p:spPr>
          <a:xfrm>
            <a:off x="6929905"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7</a:t>
            </a:r>
            <a:endParaRPr lang="en-US" sz="1100"/>
          </a:p>
        </p:txBody>
      </p:sp>
      <p:sp>
        <p:nvSpPr>
          <p:cNvPr id="26" name="Text 24"/>
          <p:cNvSpPr txBox="1"/>
          <p:nvPr/>
        </p:nvSpPr>
        <p:spPr>
          <a:xfrm>
            <a:off x="6539623"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RAG</a:t>
            </a:r>
            <a:endParaRPr lang="en-US" sz="950"/>
          </a:p>
        </p:txBody>
      </p:sp>
      <p:sp>
        <p:nvSpPr>
          <p:cNvPr id="27" name="Shape 25"/>
          <p:cNvSpPr/>
          <p:nvPr/>
        </p:nvSpPr>
        <p:spPr>
          <a:xfrm>
            <a:off x="7966502" y="3022092"/>
            <a:ext cx="402336" cy="402336"/>
          </a:xfrm>
          <a:prstGeom prst="ellipse">
            <a:avLst/>
          </a:prstGeom>
          <a:solidFill>
            <a:srgbClr val="1E2761"/>
          </a:solidFill>
          <a:ln w="25400">
            <a:solidFill>
              <a:srgbClr val="FFFFFF"/>
            </a:solidFill>
            <a:prstDash val="solid"/>
          </a:ln>
        </p:spPr>
      </p:sp>
      <p:sp>
        <p:nvSpPr>
          <p:cNvPr id="28" name="Text 26"/>
          <p:cNvSpPr txBox="1"/>
          <p:nvPr/>
        </p:nvSpPr>
        <p:spPr>
          <a:xfrm>
            <a:off x="7966502"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8</a:t>
            </a:r>
            <a:endParaRPr lang="en-US" sz="1100"/>
          </a:p>
        </p:txBody>
      </p:sp>
      <p:sp>
        <p:nvSpPr>
          <p:cNvPr id="29" name="Text 27"/>
          <p:cNvSpPr txBox="1"/>
          <p:nvPr/>
        </p:nvSpPr>
        <p:spPr>
          <a:xfrm>
            <a:off x="7576220"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History</a:t>
            </a:r>
            <a:endParaRPr lang="en-US" sz="950"/>
          </a:p>
        </p:txBody>
      </p:sp>
      <p:sp>
        <p:nvSpPr>
          <p:cNvPr id="30" name="Shape 28"/>
          <p:cNvSpPr/>
          <p:nvPr/>
        </p:nvSpPr>
        <p:spPr>
          <a:xfrm>
            <a:off x="9003099" y="3022092"/>
            <a:ext cx="402336" cy="402336"/>
          </a:xfrm>
          <a:prstGeom prst="ellipse">
            <a:avLst/>
          </a:prstGeom>
          <a:solidFill>
            <a:srgbClr val="1E2761"/>
          </a:solidFill>
          <a:ln w="25400">
            <a:solidFill>
              <a:srgbClr val="FFFFFF"/>
            </a:solidFill>
            <a:prstDash val="solid"/>
          </a:ln>
        </p:spPr>
      </p:sp>
      <p:sp>
        <p:nvSpPr>
          <p:cNvPr id="31" name="Text 29"/>
          <p:cNvSpPr txBox="1"/>
          <p:nvPr/>
        </p:nvSpPr>
        <p:spPr>
          <a:xfrm>
            <a:off x="9003099"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9</a:t>
            </a:r>
            <a:endParaRPr lang="en-US" sz="1100"/>
          </a:p>
        </p:txBody>
      </p:sp>
      <p:sp>
        <p:nvSpPr>
          <p:cNvPr id="32" name="Text 30"/>
          <p:cNvSpPr txBox="1"/>
          <p:nvPr/>
        </p:nvSpPr>
        <p:spPr>
          <a:xfrm>
            <a:off x="8612817"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Frontend</a:t>
            </a:r>
            <a:endParaRPr lang="en-US" sz="950"/>
          </a:p>
        </p:txBody>
      </p:sp>
      <p:sp>
        <p:nvSpPr>
          <p:cNvPr id="33" name="Shape 31"/>
          <p:cNvSpPr/>
          <p:nvPr/>
        </p:nvSpPr>
        <p:spPr>
          <a:xfrm>
            <a:off x="10039696" y="3022092"/>
            <a:ext cx="402336" cy="402336"/>
          </a:xfrm>
          <a:prstGeom prst="ellipse">
            <a:avLst/>
          </a:prstGeom>
          <a:solidFill>
            <a:srgbClr val="1E2761"/>
          </a:solidFill>
          <a:ln w="25400">
            <a:solidFill>
              <a:srgbClr val="FFFFFF"/>
            </a:solidFill>
            <a:prstDash val="solid"/>
          </a:ln>
        </p:spPr>
      </p:sp>
      <p:sp>
        <p:nvSpPr>
          <p:cNvPr id="34" name="Text 32"/>
          <p:cNvSpPr txBox="1"/>
          <p:nvPr/>
        </p:nvSpPr>
        <p:spPr>
          <a:xfrm>
            <a:off x="10039696" y="3022092"/>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10</a:t>
            </a:r>
            <a:endParaRPr lang="en-US" sz="1100"/>
          </a:p>
        </p:txBody>
      </p:sp>
      <p:sp>
        <p:nvSpPr>
          <p:cNvPr id="35" name="Text 33"/>
          <p:cNvSpPr txBox="1"/>
          <p:nvPr/>
        </p:nvSpPr>
        <p:spPr>
          <a:xfrm>
            <a:off x="9649414"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Admin</a:t>
            </a:r>
            <a:endParaRPr lang="en-US" sz="950"/>
          </a:p>
        </p:txBody>
      </p:sp>
      <p:sp>
        <p:nvSpPr>
          <p:cNvPr id="36" name="Shape 34"/>
          <p:cNvSpPr/>
          <p:nvPr/>
        </p:nvSpPr>
        <p:spPr>
          <a:xfrm>
            <a:off x="11076293" y="3022092"/>
            <a:ext cx="402336" cy="402336"/>
          </a:xfrm>
          <a:prstGeom prst="ellipse">
            <a:avLst/>
          </a:prstGeom>
          <a:solidFill>
            <a:srgbClr val="00C2A8"/>
          </a:solidFill>
          <a:ln w="25400">
            <a:solidFill>
              <a:srgbClr val="FFFFFF"/>
            </a:solidFill>
            <a:prstDash val="solid"/>
          </a:ln>
        </p:spPr>
      </p:sp>
      <p:sp>
        <p:nvSpPr>
          <p:cNvPr id="37" name="Text 35"/>
          <p:cNvSpPr txBox="1"/>
          <p:nvPr/>
        </p:nvSpPr>
        <p:spPr>
          <a:xfrm>
            <a:off x="11076293" y="3022092"/>
            <a:ext cx="402336" cy="402336"/>
          </a:xfrm>
          <a:prstGeom prst="rect">
            <a:avLst/>
          </a:prstGeom>
          <a:noFill/>
          <a:ln/>
        </p:spPr>
        <p:txBody>
          <a:bodyPr wrap="square" lIns="0" tIns="0" rIns="0" bIns="0" rtlCol="0" anchor="ctr"/>
          <a:lstStyle/>
          <a:p>
            <a:pPr marL="0" indent="0" algn="ctr">
              <a:buNone/>
            </a:pPr>
            <a:r>
              <a:rPr lang="en-US" sz="1100" b="1">
                <a:solidFill>
                  <a:srgbClr val="141B47"/>
                </a:solidFill>
                <a:latin typeface="Calibri" pitchFamily="34" charset="0"/>
                <a:ea typeface="Calibri" pitchFamily="34" charset="-122"/>
                <a:cs typeface="Calibri" pitchFamily="34" charset="-120"/>
              </a:rPr>
              <a:t>11</a:t>
            </a:r>
            <a:endParaRPr lang="en-US" sz="1100"/>
          </a:p>
        </p:txBody>
      </p:sp>
      <p:sp>
        <p:nvSpPr>
          <p:cNvPr id="38" name="Text 36"/>
          <p:cNvSpPr txBox="1"/>
          <p:nvPr/>
        </p:nvSpPr>
        <p:spPr>
          <a:xfrm>
            <a:off x="10686011" y="3479292"/>
            <a:ext cx="1182901" cy="457200"/>
          </a:xfrm>
          <a:prstGeom prst="rect">
            <a:avLst/>
          </a:prstGeom>
          <a:noFill/>
          <a:ln/>
        </p:spPr>
        <p:txBody>
          <a:bodyPr wrap="square" lIns="0" tIns="0" rIns="0" bIns="0" rtlCol="0" anchor="ctr"/>
          <a:lstStyle/>
          <a:p>
            <a:pPr marL="0" indent="0" algn="ctr">
              <a:buNone/>
            </a:pPr>
            <a:r>
              <a:rPr lang="en-US" sz="950">
                <a:solidFill>
                  <a:srgbClr val="1A2036"/>
                </a:solidFill>
                <a:latin typeface="Calibri" pitchFamily="34" charset="0"/>
                <a:ea typeface="Calibri" pitchFamily="34" charset="-122"/>
                <a:cs typeface="Calibri" pitchFamily="34" charset="-120"/>
              </a:rPr>
              <a:t>Hardening</a:t>
            </a:r>
            <a:endParaRPr lang="en-US" sz="950"/>
          </a:p>
        </p:txBody>
      </p:sp>
      <p:sp>
        <p:nvSpPr>
          <p:cNvPr id="39" name="Shape 37"/>
          <p:cNvSpPr/>
          <p:nvPr/>
        </p:nvSpPr>
        <p:spPr>
          <a:xfrm>
            <a:off x="457200" y="4389120"/>
            <a:ext cx="11274552" cy="1828800"/>
          </a:xfrm>
          <a:prstGeom prst="roundRect">
            <a:avLst>
              <a:gd name="adj" fmla="val 3500"/>
            </a:avLst>
          </a:prstGeom>
          <a:solidFill>
            <a:srgbClr val="F4F7FC"/>
          </a:solidFill>
          <a:ln w="9525">
            <a:solidFill>
              <a:srgbClr val="D9DFEE"/>
            </a:solidFill>
            <a:prstDash val="solid"/>
          </a:ln>
        </p:spPr>
      </p:sp>
      <p:sp>
        <p:nvSpPr>
          <p:cNvPr id="41" name="Text 39"/>
          <p:cNvSpPr txBox="1"/>
          <p:nvPr/>
        </p:nvSpPr>
        <p:spPr>
          <a:xfrm>
            <a:off x="717143" y="4750854"/>
            <a:ext cx="10698480" cy="1097280"/>
          </a:xfrm>
          <a:prstGeom prst="rect">
            <a:avLst/>
          </a:prstGeom>
          <a:noFill/>
          <a:ln/>
        </p:spPr>
        <p:txBody>
          <a:bodyPr wrap="square" lIns="0" tIns="0" rIns="0" bIns="0" rtlCol="0" anchor="ctr"/>
          <a:lstStyle/>
          <a:p>
            <a:pPr marL="0" indent="0">
              <a:buNone/>
            </a:pPr>
            <a:r>
              <a:rPr lang="en-US" sz="1300">
                <a:solidFill>
                  <a:srgbClr val="1A2036"/>
                </a:solidFill>
                <a:latin typeface="Calibri" pitchFamily="34" charset="0"/>
                <a:ea typeface="Calibri" pitchFamily="34" charset="-122"/>
                <a:cs typeface="Calibri" pitchFamily="34" charset="-120"/>
              </a:rPr>
              <a:t>Login &amp; dashboard → Upload &amp; process → Ask &amp; get a sourced answer → Query history → Admin: users, documents, admin query &amp; history</a:t>
            </a:r>
            <a:endParaRPr lang="en-US" sz="13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0058400" cy="274320"/>
          </a:xfrm>
          <a:prstGeom prst="rect">
            <a:avLst/>
          </a:prstGeom>
          <a:noFill/>
          <a:ln/>
        </p:spPr>
        <p:txBody>
          <a:bodyPr wrap="square" lIns="0" tIns="0" rIns="0" bIns="0" rtlCol="0" anchor="ctr"/>
          <a:lstStyle/>
          <a:p>
            <a:pPr marL="0" indent="0">
              <a:buNone/>
            </a:pPr>
            <a:r>
              <a:rPr lang="en-US" sz="1200" b="1" kern="0" spc="200">
                <a:solidFill>
                  <a:srgbClr val="00C2A8"/>
                </a:solidFill>
                <a:latin typeface="Calibri" pitchFamily="34" charset="0"/>
                <a:ea typeface="Calibri" pitchFamily="34" charset="-122"/>
                <a:cs typeface="Calibri" pitchFamily="34" charset="-120"/>
              </a:rPr>
              <a:t>ROADMAP</a:t>
            </a:r>
            <a:endParaRPr lang="en-US" sz="1200"/>
          </a:p>
        </p:txBody>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1E2761"/>
                </a:solidFill>
                <a:latin typeface="Cambria" pitchFamily="34" charset="0"/>
                <a:ea typeface="Cambria" pitchFamily="34" charset="-122"/>
                <a:cs typeface="Cambria" pitchFamily="34" charset="-120"/>
              </a:rPr>
              <a:t>Future improvements</a:t>
            </a:r>
            <a:endParaRPr lang="en-US" sz="2700"/>
          </a:p>
        </p:txBody>
      </p:sp>
      <p:sp>
        <p:nvSpPr>
          <p:cNvPr id="4" name="Shape 2"/>
          <p:cNvSpPr/>
          <p:nvPr/>
        </p:nvSpPr>
        <p:spPr>
          <a:xfrm>
            <a:off x="457200" y="1691640"/>
            <a:ext cx="3611880" cy="2011680"/>
          </a:xfrm>
          <a:prstGeom prst="roundRect">
            <a:avLst>
              <a:gd name="adj" fmla="val 3182"/>
            </a:avLst>
          </a:prstGeom>
          <a:solidFill>
            <a:srgbClr val="F4F7FC"/>
          </a:solidFill>
          <a:ln w="9525">
            <a:solidFill>
              <a:srgbClr val="D9DFEE"/>
            </a:solidFill>
            <a:prstDash val="solid"/>
          </a:ln>
        </p:spPr>
      </p:sp>
      <p:sp>
        <p:nvSpPr>
          <p:cNvPr id="5" name="Shape 3"/>
          <p:cNvSpPr/>
          <p:nvPr/>
        </p:nvSpPr>
        <p:spPr>
          <a:xfrm>
            <a:off x="713232" y="1947672"/>
            <a:ext cx="457200" cy="457200"/>
          </a:xfrm>
          <a:prstGeom prst="ellipse">
            <a:avLst/>
          </a:prstGeom>
          <a:solidFill>
            <a:srgbClr val="1E2761"/>
          </a:solidFill>
          <a:ln/>
        </p:spPr>
      </p:sp>
      <p:sp>
        <p:nvSpPr>
          <p:cNvPr id="6" name="Text 4"/>
          <p:cNvSpPr txBox="1"/>
          <p:nvPr/>
        </p:nvSpPr>
        <p:spPr>
          <a:xfrm>
            <a:off x="713232" y="1947672"/>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1</a:t>
            </a:r>
            <a:endParaRPr lang="en-US" sz="1600"/>
          </a:p>
        </p:txBody>
      </p:sp>
      <p:sp>
        <p:nvSpPr>
          <p:cNvPr id="7" name="Text 5"/>
          <p:cNvSpPr txBox="1"/>
          <p:nvPr/>
        </p:nvSpPr>
        <p:spPr>
          <a:xfrm>
            <a:off x="685800" y="2560320"/>
            <a:ext cx="3154680" cy="365760"/>
          </a:xfrm>
          <a:prstGeom prst="rect">
            <a:avLst/>
          </a:prstGeom>
          <a:noFill/>
          <a:ln/>
        </p:spPr>
        <p:txBody>
          <a:bodyPr wrap="square" lIns="0" tIns="0" rIns="0" bIns="0" rtlCol="0" anchor="ctr"/>
          <a:lstStyle/>
          <a:p>
            <a:pPr marL="0" indent="0">
              <a:buNone/>
            </a:pPr>
            <a:r>
              <a:rPr lang="en-US" sz="1450" b="1">
                <a:solidFill>
                  <a:srgbClr val="1E2761"/>
                </a:solidFill>
                <a:latin typeface="Cambria" pitchFamily="34" charset="0"/>
                <a:ea typeface="Cambria" pitchFamily="34" charset="-122"/>
                <a:cs typeface="Cambria" pitchFamily="34" charset="-120"/>
              </a:rPr>
              <a:t>Vector Search</a:t>
            </a:r>
            <a:endParaRPr lang="en-US" sz="1450"/>
          </a:p>
        </p:txBody>
      </p:sp>
      <p:sp>
        <p:nvSpPr>
          <p:cNvPr id="8" name="Text 6"/>
          <p:cNvSpPr txBox="1"/>
          <p:nvPr/>
        </p:nvSpPr>
        <p:spPr>
          <a:xfrm>
            <a:off x="685800" y="2926080"/>
            <a:ext cx="3154680" cy="685800"/>
          </a:xfrm>
          <a:prstGeom prst="rect">
            <a:avLst/>
          </a:prstGeom>
          <a:noFill/>
          <a:ln/>
        </p:spPr>
        <p:txBody>
          <a:bodyPr wrap="square" lIns="0" tIns="0" rIns="0" bIns="0" rtlCol="0" anchor="ctr"/>
          <a:lstStyle/>
          <a:p>
            <a:pPr marL="0" indent="0">
              <a:buNone/>
            </a:pPr>
            <a:r>
              <a:rPr lang="en-US" sz="1150">
                <a:solidFill>
                  <a:srgbClr val="5B6478"/>
                </a:solidFill>
                <a:latin typeface="Calibri" pitchFamily="34" charset="0"/>
                <a:ea typeface="Calibri" pitchFamily="34" charset="-122"/>
                <a:cs typeface="Calibri" pitchFamily="34" charset="-120"/>
              </a:rPr>
              <a:t>Move from JSON-in-SQL toward a dedicated vector database for scale</a:t>
            </a:r>
            <a:endParaRPr lang="en-US" sz="1150"/>
          </a:p>
        </p:txBody>
      </p:sp>
      <p:sp>
        <p:nvSpPr>
          <p:cNvPr id="9" name="Shape 7"/>
          <p:cNvSpPr/>
          <p:nvPr/>
        </p:nvSpPr>
        <p:spPr>
          <a:xfrm>
            <a:off x="4288536" y="1691640"/>
            <a:ext cx="3611880" cy="2011680"/>
          </a:xfrm>
          <a:prstGeom prst="roundRect">
            <a:avLst>
              <a:gd name="adj" fmla="val 3182"/>
            </a:avLst>
          </a:prstGeom>
          <a:solidFill>
            <a:srgbClr val="F4F7FC"/>
          </a:solidFill>
          <a:ln w="9525">
            <a:solidFill>
              <a:srgbClr val="D9DFEE"/>
            </a:solidFill>
            <a:prstDash val="solid"/>
          </a:ln>
        </p:spPr>
      </p:sp>
      <p:sp>
        <p:nvSpPr>
          <p:cNvPr id="10" name="Shape 8"/>
          <p:cNvSpPr/>
          <p:nvPr/>
        </p:nvSpPr>
        <p:spPr>
          <a:xfrm>
            <a:off x="4544568" y="1947672"/>
            <a:ext cx="457200" cy="457200"/>
          </a:xfrm>
          <a:prstGeom prst="ellipse">
            <a:avLst/>
          </a:prstGeom>
          <a:solidFill>
            <a:srgbClr val="1E2761"/>
          </a:solidFill>
          <a:ln/>
        </p:spPr>
      </p:sp>
      <p:sp>
        <p:nvSpPr>
          <p:cNvPr id="11" name="Text 9"/>
          <p:cNvSpPr txBox="1"/>
          <p:nvPr/>
        </p:nvSpPr>
        <p:spPr>
          <a:xfrm>
            <a:off x="4544568" y="1947672"/>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2</a:t>
            </a:r>
            <a:endParaRPr lang="en-US" sz="1600"/>
          </a:p>
        </p:txBody>
      </p:sp>
      <p:sp>
        <p:nvSpPr>
          <p:cNvPr id="12" name="Text 10"/>
          <p:cNvSpPr txBox="1"/>
          <p:nvPr/>
        </p:nvSpPr>
        <p:spPr>
          <a:xfrm>
            <a:off x="4517136" y="2560320"/>
            <a:ext cx="3154680" cy="365760"/>
          </a:xfrm>
          <a:prstGeom prst="rect">
            <a:avLst/>
          </a:prstGeom>
          <a:noFill/>
          <a:ln/>
        </p:spPr>
        <p:txBody>
          <a:bodyPr wrap="square" lIns="0" tIns="0" rIns="0" bIns="0" rtlCol="0" anchor="ctr"/>
          <a:lstStyle/>
          <a:p>
            <a:pPr marL="0" indent="0">
              <a:buNone/>
            </a:pPr>
            <a:r>
              <a:rPr lang="en-US" sz="1450" b="1">
                <a:solidFill>
                  <a:srgbClr val="1E2761"/>
                </a:solidFill>
                <a:latin typeface="Cambria" pitchFamily="34" charset="0"/>
                <a:ea typeface="Cambria" pitchFamily="34" charset="-122"/>
                <a:cs typeface="Cambria" pitchFamily="34" charset="-120"/>
              </a:rPr>
              <a:t>Reranking</a:t>
            </a:r>
            <a:endParaRPr lang="en-US" sz="1450"/>
          </a:p>
        </p:txBody>
      </p:sp>
      <p:sp>
        <p:nvSpPr>
          <p:cNvPr id="13" name="Text 11"/>
          <p:cNvSpPr txBox="1"/>
          <p:nvPr/>
        </p:nvSpPr>
        <p:spPr>
          <a:xfrm>
            <a:off x="4517136" y="2926080"/>
            <a:ext cx="3154680" cy="685800"/>
          </a:xfrm>
          <a:prstGeom prst="rect">
            <a:avLst/>
          </a:prstGeom>
          <a:noFill/>
          <a:ln/>
        </p:spPr>
        <p:txBody>
          <a:bodyPr wrap="square" lIns="0" tIns="0" rIns="0" bIns="0" rtlCol="0" anchor="ctr"/>
          <a:lstStyle/>
          <a:p>
            <a:pPr marL="0" indent="0">
              <a:buNone/>
            </a:pPr>
            <a:r>
              <a:rPr lang="en-US" sz="1150">
                <a:solidFill>
                  <a:srgbClr val="5B6478"/>
                </a:solidFill>
                <a:latin typeface="Calibri" pitchFamily="34" charset="0"/>
                <a:ea typeface="Calibri" pitchFamily="34" charset="-122"/>
                <a:cs typeface="Calibri" pitchFamily="34" charset="-120"/>
              </a:rPr>
              <a:t>A second, smarter scoring pass to sharpen retrieval quality</a:t>
            </a:r>
            <a:endParaRPr lang="en-US" sz="1150"/>
          </a:p>
        </p:txBody>
      </p:sp>
      <p:sp>
        <p:nvSpPr>
          <p:cNvPr id="14" name="Shape 12"/>
          <p:cNvSpPr/>
          <p:nvPr/>
        </p:nvSpPr>
        <p:spPr>
          <a:xfrm>
            <a:off x="8119872" y="1691640"/>
            <a:ext cx="3611880" cy="2011680"/>
          </a:xfrm>
          <a:prstGeom prst="roundRect">
            <a:avLst>
              <a:gd name="adj" fmla="val 3182"/>
            </a:avLst>
          </a:prstGeom>
          <a:solidFill>
            <a:srgbClr val="F4F7FC"/>
          </a:solidFill>
          <a:ln w="9525">
            <a:solidFill>
              <a:srgbClr val="D9DFEE"/>
            </a:solidFill>
            <a:prstDash val="solid"/>
          </a:ln>
        </p:spPr>
      </p:sp>
      <p:sp>
        <p:nvSpPr>
          <p:cNvPr id="15" name="Shape 13"/>
          <p:cNvSpPr/>
          <p:nvPr/>
        </p:nvSpPr>
        <p:spPr>
          <a:xfrm>
            <a:off x="8375904" y="1947672"/>
            <a:ext cx="457200" cy="457200"/>
          </a:xfrm>
          <a:prstGeom prst="ellipse">
            <a:avLst/>
          </a:prstGeom>
          <a:solidFill>
            <a:srgbClr val="1E2761"/>
          </a:solidFill>
          <a:ln/>
        </p:spPr>
      </p:sp>
      <p:sp>
        <p:nvSpPr>
          <p:cNvPr id="16" name="Text 14"/>
          <p:cNvSpPr txBox="1"/>
          <p:nvPr/>
        </p:nvSpPr>
        <p:spPr>
          <a:xfrm>
            <a:off x="8375904" y="1947672"/>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3</a:t>
            </a:r>
            <a:endParaRPr lang="en-US" sz="1600"/>
          </a:p>
        </p:txBody>
      </p:sp>
      <p:sp>
        <p:nvSpPr>
          <p:cNvPr id="17" name="Text 15"/>
          <p:cNvSpPr txBox="1"/>
          <p:nvPr/>
        </p:nvSpPr>
        <p:spPr>
          <a:xfrm>
            <a:off x="8348472" y="2560320"/>
            <a:ext cx="3154680" cy="365760"/>
          </a:xfrm>
          <a:prstGeom prst="rect">
            <a:avLst/>
          </a:prstGeom>
          <a:noFill/>
          <a:ln/>
        </p:spPr>
        <p:txBody>
          <a:bodyPr wrap="square" lIns="0" tIns="0" rIns="0" bIns="0" rtlCol="0" anchor="ctr"/>
          <a:lstStyle/>
          <a:p>
            <a:pPr marL="0" indent="0">
              <a:buNone/>
            </a:pPr>
            <a:r>
              <a:rPr lang="en-US" sz="1450" b="1">
                <a:solidFill>
                  <a:srgbClr val="1E2761"/>
                </a:solidFill>
                <a:latin typeface="Cambria" pitchFamily="34" charset="0"/>
                <a:ea typeface="Cambria" pitchFamily="34" charset="-122"/>
                <a:cs typeface="Cambria" pitchFamily="34" charset="-120"/>
              </a:rPr>
              <a:t>Observability</a:t>
            </a:r>
            <a:endParaRPr lang="en-US" sz="1450"/>
          </a:p>
        </p:txBody>
      </p:sp>
      <p:sp>
        <p:nvSpPr>
          <p:cNvPr id="18" name="Text 16"/>
          <p:cNvSpPr txBox="1"/>
          <p:nvPr/>
        </p:nvSpPr>
        <p:spPr>
          <a:xfrm>
            <a:off x="8348472" y="2926080"/>
            <a:ext cx="3154680" cy="685800"/>
          </a:xfrm>
          <a:prstGeom prst="rect">
            <a:avLst/>
          </a:prstGeom>
          <a:noFill/>
          <a:ln/>
        </p:spPr>
        <p:txBody>
          <a:bodyPr wrap="square" lIns="0" tIns="0" rIns="0" bIns="0" rtlCol="0" anchor="ctr"/>
          <a:lstStyle/>
          <a:p>
            <a:pPr marL="0" indent="0">
              <a:buNone/>
            </a:pPr>
            <a:r>
              <a:rPr lang="en-US" sz="1150">
                <a:solidFill>
                  <a:srgbClr val="5B6478"/>
                </a:solidFill>
                <a:latin typeface="Calibri" pitchFamily="34" charset="0"/>
                <a:ea typeface="Calibri" pitchFamily="34" charset="-122"/>
                <a:cs typeface="Calibri" pitchFamily="34" charset="-120"/>
              </a:rPr>
              <a:t>Deeper logging, metrics, and error reporting in production</a:t>
            </a:r>
            <a:endParaRPr lang="en-US" sz="1150"/>
          </a:p>
        </p:txBody>
      </p:sp>
      <p:sp>
        <p:nvSpPr>
          <p:cNvPr id="19" name="Shape 17"/>
          <p:cNvSpPr/>
          <p:nvPr/>
        </p:nvSpPr>
        <p:spPr>
          <a:xfrm>
            <a:off x="457200" y="3977640"/>
            <a:ext cx="3611880" cy="2011680"/>
          </a:xfrm>
          <a:prstGeom prst="roundRect">
            <a:avLst>
              <a:gd name="adj" fmla="val 3182"/>
            </a:avLst>
          </a:prstGeom>
          <a:solidFill>
            <a:srgbClr val="F4F7FC"/>
          </a:solidFill>
          <a:ln w="9525">
            <a:solidFill>
              <a:srgbClr val="D9DFEE"/>
            </a:solidFill>
            <a:prstDash val="solid"/>
          </a:ln>
        </p:spPr>
      </p:sp>
      <p:sp>
        <p:nvSpPr>
          <p:cNvPr id="20" name="Shape 18"/>
          <p:cNvSpPr/>
          <p:nvPr/>
        </p:nvSpPr>
        <p:spPr>
          <a:xfrm>
            <a:off x="713232" y="4233672"/>
            <a:ext cx="457200" cy="457200"/>
          </a:xfrm>
          <a:prstGeom prst="ellipse">
            <a:avLst/>
          </a:prstGeom>
          <a:solidFill>
            <a:srgbClr val="1E2761"/>
          </a:solidFill>
          <a:ln/>
        </p:spPr>
      </p:sp>
      <p:sp>
        <p:nvSpPr>
          <p:cNvPr id="21" name="Text 19"/>
          <p:cNvSpPr txBox="1"/>
          <p:nvPr/>
        </p:nvSpPr>
        <p:spPr>
          <a:xfrm>
            <a:off x="713232" y="4233672"/>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4</a:t>
            </a:r>
            <a:endParaRPr lang="en-US" sz="1600"/>
          </a:p>
        </p:txBody>
      </p:sp>
      <p:sp>
        <p:nvSpPr>
          <p:cNvPr id="22" name="Text 20"/>
          <p:cNvSpPr txBox="1"/>
          <p:nvPr/>
        </p:nvSpPr>
        <p:spPr>
          <a:xfrm>
            <a:off x="685800" y="4846320"/>
            <a:ext cx="3154680" cy="365760"/>
          </a:xfrm>
          <a:prstGeom prst="rect">
            <a:avLst/>
          </a:prstGeom>
          <a:noFill/>
          <a:ln/>
        </p:spPr>
        <p:txBody>
          <a:bodyPr wrap="square" lIns="0" tIns="0" rIns="0" bIns="0" rtlCol="0" anchor="ctr"/>
          <a:lstStyle/>
          <a:p>
            <a:pPr marL="0" indent="0">
              <a:buNone/>
            </a:pPr>
            <a:r>
              <a:rPr lang="en-US" sz="1450" b="1">
                <a:solidFill>
                  <a:srgbClr val="1E2761"/>
                </a:solidFill>
                <a:latin typeface="Cambria" pitchFamily="34" charset="0"/>
                <a:ea typeface="Cambria" pitchFamily="34" charset="-122"/>
                <a:cs typeface="Cambria" pitchFamily="34" charset="-120"/>
              </a:rPr>
              <a:t>More Formats</a:t>
            </a:r>
            <a:endParaRPr lang="en-US" sz="1450"/>
          </a:p>
        </p:txBody>
      </p:sp>
      <p:sp>
        <p:nvSpPr>
          <p:cNvPr id="23" name="Text 21"/>
          <p:cNvSpPr txBox="1"/>
          <p:nvPr/>
        </p:nvSpPr>
        <p:spPr>
          <a:xfrm>
            <a:off x="685800" y="5212080"/>
            <a:ext cx="3154680" cy="685800"/>
          </a:xfrm>
          <a:prstGeom prst="rect">
            <a:avLst/>
          </a:prstGeom>
          <a:noFill/>
          <a:ln/>
        </p:spPr>
        <p:txBody>
          <a:bodyPr wrap="square" lIns="0" tIns="0" rIns="0" bIns="0" rtlCol="0" anchor="ctr"/>
          <a:lstStyle/>
          <a:p>
            <a:pPr marL="0" indent="0">
              <a:buNone/>
            </a:pPr>
            <a:r>
              <a:rPr lang="en-US" sz="1150">
                <a:solidFill>
                  <a:srgbClr val="5B6478"/>
                </a:solidFill>
                <a:latin typeface="Calibri" pitchFamily="34" charset="0"/>
                <a:ea typeface="Calibri" pitchFamily="34" charset="-122"/>
                <a:cs typeface="Calibri" pitchFamily="34" charset="-120"/>
              </a:rPr>
              <a:t>Support document types beyond PDF</a:t>
            </a:r>
            <a:endParaRPr lang="en-US" sz="1150"/>
          </a:p>
        </p:txBody>
      </p:sp>
      <p:sp>
        <p:nvSpPr>
          <p:cNvPr id="24" name="Shape 22"/>
          <p:cNvSpPr/>
          <p:nvPr/>
        </p:nvSpPr>
        <p:spPr>
          <a:xfrm>
            <a:off x="4288536" y="3977640"/>
            <a:ext cx="3611880" cy="2011680"/>
          </a:xfrm>
          <a:prstGeom prst="roundRect">
            <a:avLst>
              <a:gd name="adj" fmla="val 3182"/>
            </a:avLst>
          </a:prstGeom>
          <a:solidFill>
            <a:srgbClr val="F4F7FC"/>
          </a:solidFill>
          <a:ln w="9525">
            <a:solidFill>
              <a:srgbClr val="D9DFEE"/>
            </a:solidFill>
            <a:prstDash val="solid"/>
          </a:ln>
        </p:spPr>
      </p:sp>
      <p:sp>
        <p:nvSpPr>
          <p:cNvPr id="25" name="Shape 23"/>
          <p:cNvSpPr/>
          <p:nvPr/>
        </p:nvSpPr>
        <p:spPr>
          <a:xfrm>
            <a:off x="4544568" y="4233672"/>
            <a:ext cx="457200" cy="457200"/>
          </a:xfrm>
          <a:prstGeom prst="ellipse">
            <a:avLst/>
          </a:prstGeom>
          <a:solidFill>
            <a:srgbClr val="1E2761"/>
          </a:solidFill>
          <a:ln/>
        </p:spPr>
      </p:sp>
      <p:sp>
        <p:nvSpPr>
          <p:cNvPr id="26" name="Text 24"/>
          <p:cNvSpPr txBox="1"/>
          <p:nvPr/>
        </p:nvSpPr>
        <p:spPr>
          <a:xfrm>
            <a:off x="4544568" y="4233672"/>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5</a:t>
            </a:r>
            <a:endParaRPr lang="en-US" sz="1600"/>
          </a:p>
        </p:txBody>
      </p:sp>
      <p:sp>
        <p:nvSpPr>
          <p:cNvPr id="27" name="Text 25"/>
          <p:cNvSpPr txBox="1"/>
          <p:nvPr/>
        </p:nvSpPr>
        <p:spPr>
          <a:xfrm>
            <a:off x="4517136" y="4846320"/>
            <a:ext cx="3154680" cy="365760"/>
          </a:xfrm>
          <a:prstGeom prst="rect">
            <a:avLst/>
          </a:prstGeom>
          <a:noFill/>
          <a:ln/>
        </p:spPr>
        <p:txBody>
          <a:bodyPr wrap="square" lIns="0" tIns="0" rIns="0" bIns="0" rtlCol="0" anchor="ctr"/>
          <a:lstStyle/>
          <a:p>
            <a:pPr marL="0" indent="0">
              <a:buNone/>
            </a:pPr>
            <a:r>
              <a:rPr lang="en-US" sz="1450" b="1">
                <a:solidFill>
                  <a:srgbClr val="1E2761"/>
                </a:solidFill>
                <a:latin typeface="Cambria" pitchFamily="34" charset="0"/>
                <a:ea typeface="Cambria" pitchFamily="34" charset="-122"/>
                <a:cs typeface="Cambria" pitchFamily="34" charset="-120"/>
              </a:rPr>
              <a:t>Admin Analytics</a:t>
            </a:r>
            <a:endParaRPr lang="en-US" sz="1450"/>
          </a:p>
        </p:txBody>
      </p:sp>
      <p:sp>
        <p:nvSpPr>
          <p:cNvPr id="28" name="Text 26"/>
          <p:cNvSpPr txBox="1"/>
          <p:nvPr/>
        </p:nvSpPr>
        <p:spPr>
          <a:xfrm>
            <a:off x="4517136" y="5212080"/>
            <a:ext cx="3154680" cy="685800"/>
          </a:xfrm>
          <a:prstGeom prst="rect">
            <a:avLst/>
          </a:prstGeom>
          <a:noFill/>
          <a:ln/>
        </p:spPr>
        <p:txBody>
          <a:bodyPr wrap="square" lIns="0" tIns="0" rIns="0" bIns="0" rtlCol="0" anchor="ctr"/>
          <a:lstStyle/>
          <a:p>
            <a:pPr marL="0" indent="0">
              <a:buNone/>
            </a:pPr>
            <a:r>
              <a:rPr lang="en-US" sz="1150">
                <a:solidFill>
                  <a:srgbClr val="5B6478"/>
                </a:solidFill>
                <a:latin typeface="Calibri" pitchFamily="34" charset="0"/>
                <a:ea typeface="Calibri" pitchFamily="34" charset="-122"/>
                <a:cs typeface="Calibri" pitchFamily="34" charset="-120"/>
              </a:rPr>
              <a:t>Richer reporting and usage insight for administrators</a:t>
            </a:r>
            <a:endParaRPr lang="en-US" sz="1150"/>
          </a:p>
        </p:txBody>
      </p:sp>
      <p:sp>
        <p:nvSpPr>
          <p:cNvPr id="29" name="Shape 27"/>
          <p:cNvSpPr/>
          <p:nvPr/>
        </p:nvSpPr>
        <p:spPr>
          <a:xfrm>
            <a:off x="8119872" y="3977640"/>
            <a:ext cx="3611880" cy="2011680"/>
          </a:xfrm>
          <a:prstGeom prst="roundRect">
            <a:avLst>
              <a:gd name="adj" fmla="val 3182"/>
            </a:avLst>
          </a:prstGeom>
          <a:solidFill>
            <a:srgbClr val="F4F7FC"/>
          </a:solidFill>
          <a:ln w="9525">
            <a:solidFill>
              <a:srgbClr val="D9DFEE"/>
            </a:solidFill>
            <a:prstDash val="solid"/>
          </a:ln>
        </p:spPr>
      </p:sp>
      <p:sp>
        <p:nvSpPr>
          <p:cNvPr id="30" name="Shape 28"/>
          <p:cNvSpPr/>
          <p:nvPr/>
        </p:nvSpPr>
        <p:spPr>
          <a:xfrm>
            <a:off x="8375904" y="4233672"/>
            <a:ext cx="457200" cy="457200"/>
          </a:xfrm>
          <a:prstGeom prst="ellipse">
            <a:avLst/>
          </a:prstGeom>
          <a:solidFill>
            <a:srgbClr val="1E2761"/>
          </a:solidFill>
          <a:ln/>
        </p:spPr>
      </p:sp>
      <p:sp>
        <p:nvSpPr>
          <p:cNvPr id="31" name="Text 29"/>
          <p:cNvSpPr txBox="1"/>
          <p:nvPr/>
        </p:nvSpPr>
        <p:spPr>
          <a:xfrm>
            <a:off x="8375904" y="4233672"/>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6</a:t>
            </a:r>
            <a:endParaRPr lang="en-US" sz="1600"/>
          </a:p>
        </p:txBody>
      </p:sp>
      <p:sp>
        <p:nvSpPr>
          <p:cNvPr id="32" name="Text 30"/>
          <p:cNvSpPr txBox="1"/>
          <p:nvPr/>
        </p:nvSpPr>
        <p:spPr>
          <a:xfrm>
            <a:off x="8348472" y="4846320"/>
            <a:ext cx="3154680" cy="365760"/>
          </a:xfrm>
          <a:prstGeom prst="rect">
            <a:avLst/>
          </a:prstGeom>
          <a:noFill/>
          <a:ln/>
        </p:spPr>
        <p:txBody>
          <a:bodyPr wrap="square" lIns="0" tIns="0" rIns="0" bIns="0" rtlCol="0" anchor="ctr"/>
          <a:lstStyle/>
          <a:p>
            <a:pPr marL="0" indent="0">
              <a:buNone/>
            </a:pPr>
            <a:r>
              <a:rPr lang="en-US" sz="1450" b="1">
                <a:solidFill>
                  <a:srgbClr val="1E2761"/>
                </a:solidFill>
                <a:latin typeface="Cambria" pitchFamily="34" charset="0"/>
                <a:ea typeface="Cambria" pitchFamily="34" charset="-122"/>
                <a:cs typeface="Cambria" pitchFamily="34" charset="-120"/>
              </a:rPr>
              <a:t>Test Coverage</a:t>
            </a:r>
            <a:endParaRPr lang="en-US" sz="1450"/>
          </a:p>
        </p:txBody>
      </p:sp>
      <p:sp>
        <p:nvSpPr>
          <p:cNvPr id="33" name="Text 31"/>
          <p:cNvSpPr txBox="1"/>
          <p:nvPr/>
        </p:nvSpPr>
        <p:spPr>
          <a:xfrm>
            <a:off x="8348472" y="5212080"/>
            <a:ext cx="3154680" cy="685800"/>
          </a:xfrm>
          <a:prstGeom prst="rect">
            <a:avLst/>
          </a:prstGeom>
          <a:noFill/>
          <a:ln/>
        </p:spPr>
        <p:txBody>
          <a:bodyPr wrap="square" lIns="0" tIns="0" rIns="0" bIns="0" rtlCol="0" anchor="ctr"/>
          <a:lstStyle/>
          <a:p>
            <a:pPr marL="0" indent="0">
              <a:buNone/>
            </a:pPr>
            <a:r>
              <a:rPr lang="en-US" sz="1150">
                <a:solidFill>
                  <a:srgbClr val="5B6478"/>
                </a:solidFill>
                <a:latin typeface="Calibri" pitchFamily="34" charset="0"/>
                <a:ea typeface="Calibri" pitchFamily="34" charset="-122"/>
                <a:cs typeface="Calibri" pitchFamily="34" charset="-120"/>
              </a:rPr>
              <a:t>Expand automated tests as new features are added</a:t>
            </a:r>
            <a:endParaRPr lang="en-US" sz="11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7"/>
        </a:solidFill>
        <a:effectLst/>
      </p:bgPr>
    </p:bg>
    <p:spTree>
      <p:nvGrpSpPr>
        <p:cNvPr id="1" name=""/>
        <p:cNvGrpSpPr/>
        <p:nvPr/>
      </p:nvGrpSpPr>
      <p:grpSpPr>
        <a:xfrm>
          <a:off x="0" y="0"/>
          <a:ext cx="0" cy="0"/>
          <a:chOff x="0" y="0"/>
          <a:chExt cx="0" cy="0"/>
        </a:xfrm>
      </p:grpSpPr>
      <p:sp>
        <p:nvSpPr>
          <p:cNvPr id="28" name="Shape 26"/>
          <p:cNvSpPr/>
          <p:nvPr/>
        </p:nvSpPr>
        <p:spPr>
          <a:xfrm>
            <a:off x="8681049" y="6960367"/>
            <a:ext cx="2704" cy="83964"/>
          </a:xfrm>
          <a:prstGeom prst="roundRect">
            <a:avLst>
              <a:gd name="adj" fmla="val 2632"/>
            </a:avLst>
          </a:prstGeom>
          <a:solidFill>
            <a:srgbClr val="FFFFFF"/>
          </a:solidFill>
          <a:ln w="12700">
            <a:solidFill>
              <a:srgbClr val="AEB8DA"/>
            </a:solidFill>
            <a:prstDash val="dash"/>
          </a:ln>
        </p:spPr>
      </p:sp>
      <p:sp>
        <p:nvSpPr>
          <p:cNvPr id="3" name="Text 1"/>
          <p:cNvSpPr txBox="1"/>
          <p:nvPr/>
        </p:nvSpPr>
        <p:spPr>
          <a:xfrm>
            <a:off x="457200" y="548640"/>
            <a:ext cx="11247120" cy="658368"/>
          </a:xfrm>
          <a:prstGeom prst="rect">
            <a:avLst/>
          </a:prstGeom>
          <a:noFill/>
          <a:ln/>
        </p:spPr>
        <p:txBody>
          <a:bodyPr wrap="square" lIns="0" tIns="0" rIns="0" bIns="0" rtlCol="0" anchor="ctr"/>
          <a:lstStyle/>
          <a:p>
            <a:pPr marL="0" indent="0">
              <a:buNone/>
            </a:pPr>
            <a:r>
              <a:rPr lang="en-US" sz="2700" b="1">
                <a:solidFill>
                  <a:srgbClr val="FFFFFF"/>
                </a:solidFill>
                <a:latin typeface="Cambria" pitchFamily="34" charset="0"/>
                <a:ea typeface="Cambria" pitchFamily="34" charset="-122"/>
                <a:cs typeface="Cambria" pitchFamily="34" charset="-120"/>
              </a:rPr>
              <a:t>The final system</a:t>
            </a:r>
            <a:endParaRPr lang="en-US" sz="2700"/>
          </a:p>
        </p:txBody>
      </p:sp>
      <p:sp>
        <p:nvSpPr>
          <p:cNvPr id="4" name="Shape 2"/>
          <p:cNvSpPr/>
          <p:nvPr/>
        </p:nvSpPr>
        <p:spPr>
          <a:xfrm>
            <a:off x="457200" y="1737360"/>
            <a:ext cx="1265301" cy="777240"/>
          </a:xfrm>
          <a:prstGeom prst="roundRect">
            <a:avLst>
              <a:gd name="adj" fmla="val 9412"/>
            </a:avLst>
          </a:prstGeom>
          <a:solidFill>
            <a:srgbClr val="2A356E"/>
          </a:solidFill>
          <a:ln/>
        </p:spPr>
      </p:sp>
      <p:sp>
        <p:nvSpPr>
          <p:cNvPr id="5" name="Text 3"/>
          <p:cNvSpPr txBox="1"/>
          <p:nvPr/>
        </p:nvSpPr>
        <p:spPr>
          <a:xfrm>
            <a:off x="502920"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Login</a:t>
            </a:r>
            <a:endParaRPr lang="en-US" sz="1200"/>
          </a:p>
        </p:txBody>
      </p:sp>
      <p:sp>
        <p:nvSpPr>
          <p:cNvPr id="6" name="Shape 4"/>
          <p:cNvSpPr/>
          <p:nvPr/>
        </p:nvSpPr>
        <p:spPr>
          <a:xfrm>
            <a:off x="1740789" y="2066544"/>
            <a:ext cx="118872" cy="95098"/>
          </a:xfrm>
          <a:prstGeom prst="rightArrow">
            <a:avLst/>
          </a:prstGeom>
          <a:solidFill>
            <a:srgbClr val="00C2A8"/>
          </a:solidFill>
          <a:ln/>
        </p:spPr>
      </p:sp>
      <p:sp>
        <p:nvSpPr>
          <p:cNvPr id="7" name="Shape 5"/>
          <p:cNvSpPr/>
          <p:nvPr/>
        </p:nvSpPr>
        <p:spPr>
          <a:xfrm>
            <a:off x="1887093" y="1737360"/>
            <a:ext cx="1265301" cy="777240"/>
          </a:xfrm>
          <a:prstGeom prst="roundRect">
            <a:avLst>
              <a:gd name="adj" fmla="val 9412"/>
            </a:avLst>
          </a:prstGeom>
          <a:solidFill>
            <a:srgbClr val="2A356E"/>
          </a:solidFill>
          <a:ln/>
        </p:spPr>
      </p:sp>
      <p:sp>
        <p:nvSpPr>
          <p:cNvPr id="8" name="Text 6"/>
          <p:cNvSpPr txBox="1"/>
          <p:nvPr/>
        </p:nvSpPr>
        <p:spPr>
          <a:xfrm>
            <a:off x="1932813"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Upload</a:t>
            </a:r>
            <a:endParaRPr lang="en-US" sz="1200"/>
          </a:p>
        </p:txBody>
      </p:sp>
      <p:sp>
        <p:nvSpPr>
          <p:cNvPr id="9" name="Shape 7"/>
          <p:cNvSpPr/>
          <p:nvPr/>
        </p:nvSpPr>
        <p:spPr>
          <a:xfrm>
            <a:off x="3170682" y="2066544"/>
            <a:ext cx="118872" cy="95098"/>
          </a:xfrm>
          <a:prstGeom prst="rightArrow">
            <a:avLst/>
          </a:prstGeom>
          <a:solidFill>
            <a:srgbClr val="00C2A8"/>
          </a:solidFill>
          <a:ln/>
        </p:spPr>
      </p:sp>
      <p:sp>
        <p:nvSpPr>
          <p:cNvPr id="10" name="Shape 8"/>
          <p:cNvSpPr/>
          <p:nvPr/>
        </p:nvSpPr>
        <p:spPr>
          <a:xfrm>
            <a:off x="3316986" y="1737360"/>
            <a:ext cx="1265301" cy="777240"/>
          </a:xfrm>
          <a:prstGeom prst="roundRect">
            <a:avLst>
              <a:gd name="adj" fmla="val 9412"/>
            </a:avLst>
          </a:prstGeom>
          <a:solidFill>
            <a:srgbClr val="2A356E"/>
          </a:solidFill>
          <a:ln/>
        </p:spPr>
      </p:sp>
      <p:sp>
        <p:nvSpPr>
          <p:cNvPr id="11" name="Text 9"/>
          <p:cNvSpPr txBox="1"/>
          <p:nvPr/>
        </p:nvSpPr>
        <p:spPr>
          <a:xfrm>
            <a:off x="3362706"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Process</a:t>
            </a:r>
            <a:endParaRPr lang="en-US" sz="1200"/>
          </a:p>
        </p:txBody>
      </p:sp>
      <p:sp>
        <p:nvSpPr>
          <p:cNvPr id="12" name="Shape 10"/>
          <p:cNvSpPr/>
          <p:nvPr/>
        </p:nvSpPr>
        <p:spPr>
          <a:xfrm>
            <a:off x="4600575" y="2066544"/>
            <a:ext cx="118872" cy="95098"/>
          </a:xfrm>
          <a:prstGeom prst="rightArrow">
            <a:avLst/>
          </a:prstGeom>
          <a:solidFill>
            <a:srgbClr val="00C2A8"/>
          </a:solidFill>
          <a:ln/>
        </p:spPr>
      </p:sp>
      <p:sp>
        <p:nvSpPr>
          <p:cNvPr id="13" name="Shape 11"/>
          <p:cNvSpPr/>
          <p:nvPr/>
        </p:nvSpPr>
        <p:spPr>
          <a:xfrm>
            <a:off x="4746879" y="1737360"/>
            <a:ext cx="1265301" cy="777240"/>
          </a:xfrm>
          <a:prstGeom prst="roundRect">
            <a:avLst>
              <a:gd name="adj" fmla="val 9412"/>
            </a:avLst>
          </a:prstGeom>
          <a:solidFill>
            <a:srgbClr val="2A356E"/>
          </a:solidFill>
          <a:ln/>
        </p:spPr>
      </p:sp>
      <p:sp>
        <p:nvSpPr>
          <p:cNvPr id="14" name="Text 12"/>
          <p:cNvSpPr txBox="1"/>
          <p:nvPr/>
        </p:nvSpPr>
        <p:spPr>
          <a:xfrm>
            <a:off x="4792599"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Query</a:t>
            </a:r>
            <a:endParaRPr lang="en-US" sz="1200"/>
          </a:p>
        </p:txBody>
      </p:sp>
      <p:sp>
        <p:nvSpPr>
          <p:cNvPr id="15" name="Shape 13"/>
          <p:cNvSpPr/>
          <p:nvPr/>
        </p:nvSpPr>
        <p:spPr>
          <a:xfrm>
            <a:off x="6030468" y="2066544"/>
            <a:ext cx="118872" cy="95098"/>
          </a:xfrm>
          <a:prstGeom prst="rightArrow">
            <a:avLst/>
          </a:prstGeom>
          <a:solidFill>
            <a:srgbClr val="00C2A8"/>
          </a:solidFill>
          <a:ln/>
        </p:spPr>
      </p:sp>
      <p:sp>
        <p:nvSpPr>
          <p:cNvPr id="16" name="Shape 14"/>
          <p:cNvSpPr/>
          <p:nvPr/>
        </p:nvSpPr>
        <p:spPr>
          <a:xfrm>
            <a:off x="6176772" y="1737360"/>
            <a:ext cx="1265301" cy="777240"/>
          </a:xfrm>
          <a:prstGeom prst="roundRect">
            <a:avLst>
              <a:gd name="adj" fmla="val 9412"/>
            </a:avLst>
          </a:prstGeom>
          <a:solidFill>
            <a:srgbClr val="2A356E"/>
          </a:solidFill>
          <a:ln/>
        </p:spPr>
      </p:sp>
      <p:sp>
        <p:nvSpPr>
          <p:cNvPr id="17" name="Text 15"/>
          <p:cNvSpPr txBox="1"/>
          <p:nvPr/>
        </p:nvSpPr>
        <p:spPr>
          <a:xfrm>
            <a:off x="6222492"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Answer</a:t>
            </a:r>
            <a:endParaRPr lang="en-US" sz="1200"/>
          </a:p>
        </p:txBody>
      </p:sp>
      <p:sp>
        <p:nvSpPr>
          <p:cNvPr id="18" name="Shape 16"/>
          <p:cNvSpPr/>
          <p:nvPr/>
        </p:nvSpPr>
        <p:spPr>
          <a:xfrm>
            <a:off x="7460361" y="2066544"/>
            <a:ext cx="118872" cy="95098"/>
          </a:xfrm>
          <a:prstGeom prst="rightArrow">
            <a:avLst/>
          </a:prstGeom>
          <a:solidFill>
            <a:srgbClr val="00C2A8"/>
          </a:solidFill>
          <a:ln/>
        </p:spPr>
      </p:sp>
      <p:sp>
        <p:nvSpPr>
          <p:cNvPr id="19" name="Shape 17"/>
          <p:cNvSpPr/>
          <p:nvPr/>
        </p:nvSpPr>
        <p:spPr>
          <a:xfrm>
            <a:off x="7606665" y="1737360"/>
            <a:ext cx="1265301" cy="777240"/>
          </a:xfrm>
          <a:prstGeom prst="roundRect">
            <a:avLst>
              <a:gd name="adj" fmla="val 9412"/>
            </a:avLst>
          </a:prstGeom>
          <a:solidFill>
            <a:srgbClr val="2A356E"/>
          </a:solidFill>
          <a:ln/>
        </p:spPr>
      </p:sp>
      <p:sp>
        <p:nvSpPr>
          <p:cNvPr id="20" name="Text 18"/>
          <p:cNvSpPr txBox="1"/>
          <p:nvPr/>
        </p:nvSpPr>
        <p:spPr>
          <a:xfrm>
            <a:off x="7652385"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Sources</a:t>
            </a:r>
            <a:endParaRPr lang="en-US" sz="1200"/>
          </a:p>
        </p:txBody>
      </p:sp>
      <p:sp>
        <p:nvSpPr>
          <p:cNvPr id="21" name="Shape 19"/>
          <p:cNvSpPr/>
          <p:nvPr/>
        </p:nvSpPr>
        <p:spPr>
          <a:xfrm>
            <a:off x="8890254" y="2066544"/>
            <a:ext cx="118872" cy="95098"/>
          </a:xfrm>
          <a:prstGeom prst="rightArrow">
            <a:avLst/>
          </a:prstGeom>
          <a:solidFill>
            <a:srgbClr val="00C2A8"/>
          </a:solidFill>
          <a:ln/>
        </p:spPr>
      </p:sp>
      <p:sp>
        <p:nvSpPr>
          <p:cNvPr id="22" name="Shape 20"/>
          <p:cNvSpPr/>
          <p:nvPr/>
        </p:nvSpPr>
        <p:spPr>
          <a:xfrm>
            <a:off x="9036558" y="1737360"/>
            <a:ext cx="1265301" cy="777240"/>
          </a:xfrm>
          <a:prstGeom prst="roundRect">
            <a:avLst>
              <a:gd name="adj" fmla="val 9412"/>
            </a:avLst>
          </a:prstGeom>
          <a:solidFill>
            <a:srgbClr val="2A356E"/>
          </a:solidFill>
          <a:ln/>
        </p:spPr>
      </p:sp>
      <p:sp>
        <p:nvSpPr>
          <p:cNvPr id="23" name="Text 21"/>
          <p:cNvSpPr txBox="1"/>
          <p:nvPr/>
        </p:nvSpPr>
        <p:spPr>
          <a:xfrm>
            <a:off x="9082278" y="1737360"/>
            <a:ext cx="1173861" cy="7772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History</a:t>
            </a:r>
            <a:endParaRPr lang="en-US" sz="1200"/>
          </a:p>
        </p:txBody>
      </p:sp>
      <p:sp>
        <p:nvSpPr>
          <p:cNvPr id="24" name="Shape 22"/>
          <p:cNvSpPr/>
          <p:nvPr/>
        </p:nvSpPr>
        <p:spPr>
          <a:xfrm>
            <a:off x="10320147" y="2066544"/>
            <a:ext cx="118872" cy="95098"/>
          </a:xfrm>
          <a:prstGeom prst="rightArrow">
            <a:avLst/>
          </a:prstGeom>
          <a:solidFill>
            <a:srgbClr val="00C2A8"/>
          </a:solidFill>
          <a:ln/>
        </p:spPr>
      </p:sp>
      <p:sp>
        <p:nvSpPr>
          <p:cNvPr id="25" name="Shape 23"/>
          <p:cNvSpPr/>
          <p:nvPr/>
        </p:nvSpPr>
        <p:spPr>
          <a:xfrm>
            <a:off x="10466451" y="1737360"/>
            <a:ext cx="1265301" cy="777240"/>
          </a:xfrm>
          <a:prstGeom prst="roundRect">
            <a:avLst>
              <a:gd name="adj" fmla="val 9412"/>
            </a:avLst>
          </a:prstGeom>
          <a:solidFill>
            <a:srgbClr val="00C2A8"/>
          </a:solidFill>
          <a:ln/>
        </p:spPr>
      </p:sp>
      <p:sp>
        <p:nvSpPr>
          <p:cNvPr id="26" name="Text 24"/>
          <p:cNvSpPr txBox="1"/>
          <p:nvPr/>
        </p:nvSpPr>
        <p:spPr>
          <a:xfrm>
            <a:off x="10512171" y="1737360"/>
            <a:ext cx="1173861" cy="777240"/>
          </a:xfrm>
          <a:prstGeom prst="rect">
            <a:avLst/>
          </a:prstGeom>
          <a:noFill/>
          <a:ln/>
        </p:spPr>
        <p:txBody>
          <a:bodyPr wrap="square" lIns="0" tIns="0" rIns="0" bIns="0" rtlCol="0" anchor="ctr"/>
          <a:lstStyle/>
          <a:p>
            <a:pPr marL="0" indent="0" algn="ctr">
              <a:buNone/>
            </a:pPr>
            <a:r>
              <a:rPr lang="en-US" sz="1200" b="1">
                <a:solidFill>
                  <a:srgbClr val="141B47"/>
                </a:solidFill>
                <a:latin typeface="Calibri" pitchFamily="34" charset="0"/>
                <a:ea typeface="Calibri" pitchFamily="34" charset="-122"/>
                <a:cs typeface="Calibri" pitchFamily="34" charset="-120"/>
              </a:rPr>
              <a:t>Admin</a:t>
            </a:r>
            <a:endParaRPr lang="en-US" sz="1200"/>
          </a:p>
        </p:txBody>
      </p:sp>
      <p:sp>
        <p:nvSpPr>
          <p:cNvPr id="27" name="Text 25"/>
          <p:cNvSpPr txBox="1"/>
          <p:nvPr/>
        </p:nvSpPr>
        <p:spPr>
          <a:xfrm>
            <a:off x="428446" y="3765142"/>
            <a:ext cx="11274552" cy="548640"/>
          </a:xfrm>
          <a:prstGeom prst="rect">
            <a:avLst/>
          </a:prstGeom>
          <a:noFill/>
          <a:ln/>
        </p:spPr>
        <p:txBody>
          <a:bodyPr wrap="square" lIns="0" tIns="0" rIns="0" bIns="0" rtlCol="0" anchor="ctr"/>
          <a:lstStyle/>
          <a:p>
            <a:pPr marL="0" indent="0" algn="ctr">
              <a:buNone/>
            </a:pPr>
            <a:r>
              <a:rPr lang="en-US" sz="2200" b="1" i="1">
                <a:solidFill>
                  <a:srgbClr val="00C2A8"/>
                </a:solidFill>
                <a:latin typeface="Cambria" pitchFamily="34" charset="0"/>
                <a:ea typeface="Cambria" pitchFamily="34" charset="-122"/>
                <a:cs typeface="Cambria" pitchFamily="34" charset="-120"/>
              </a:rPr>
              <a:t>From raw documents to grounded, searchable knowledge.</a:t>
            </a:r>
            <a:endParaRPr lang="en-US" sz="2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Document Intelligence Platform</dc:title>
  <dc:subject>PptxGenJS Presentation</dc:subject>
  <dc:creator>Rinoy &amp; Sreelakshmi</dc:creator>
  <cp:revision>18</cp:revision>
  <dcterms:created xsi:type="dcterms:W3CDTF">2026-09-02T11:11:00Z</dcterms:created>
  <dcterms:modified xsi:type="dcterms:W3CDTF">2026-09-02T17:34:24Z</dcterms:modified>
</cp:coreProperties>
</file>